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f3736c68e24233" /><Relationship Type="http://schemas.openxmlformats.org/officeDocument/2006/relationships/extended-properties" Target="/docProps/app.xml" Id="R8d93f3bffbae4c92" /><Relationship Type="http://schemas.openxmlformats.org/officeDocument/2006/relationships/officeDocument" Target="/ppt/presentation.xml" Id="Rd294aeb4276f45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a5e90818a64fdb"/>
  </p:sldMasterIdLst>
  <p:notesMasterIdLst>
    <p:notesMasterId xmlns:r="http://schemas.openxmlformats.org/officeDocument/2006/relationships" r:id="R0e67ab8d4ed6461e"/>
  </p:notesMasterIdLst>
  <p:sldIdLst>
    <p:sldId xmlns:r="http://schemas.openxmlformats.org/officeDocument/2006/relationships" id="256" r:id="R27f06eed3c2e4091"/>
    <p:sldId xmlns:r="http://schemas.openxmlformats.org/officeDocument/2006/relationships" id="257" r:id="R993462a205db411a"/>
    <p:sldId xmlns:r="http://schemas.openxmlformats.org/officeDocument/2006/relationships" id="258" r:id="Rfc6179643fab4534"/>
    <p:sldId xmlns:r="http://schemas.openxmlformats.org/officeDocument/2006/relationships" id="259" r:id="R347fa10af1bc4221"/>
    <p:sldId xmlns:r="http://schemas.openxmlformats.org/officeDocument/2006/relationships" id="260" r:id="R0f7c5129091548ab"/>
    <p:sldId xmlns:r="http://schemas.openxmlformats.org/officeDocument/2006/relationships" id="261" r:id="Rdc33bddb5c164e0c"/>
    <p:sldId xmlns:r="http://schemas.openxmlformats.org/officeDocument/2006/relationships" id="262" r:id="R5c6f01279a65451f"/>
    <p:sldId xmlns:r="http://schemas.openxmlformats.org/officeDocument/2006/relationships" id="263" r:id="R4110ef281c404f4b"/>
    <p:sldId xmlns:r="http://schemas.openxmlformats.org/officeDocument/2006/relationships" id="264" r:id="R52b4ff8ea8cc47cc"/>
    <p:sldId xmlns:r="http://schemas.openxmlformats.org/officeDocument/2006/relationships" id="265" r:id="R566c8c11f3ec42e7"/>
    <p:sldId xmlns:r="http://schemas.openxmlformats.org/officeDocument/2006/relationships" id="266" r:id="Rf68686bb3b734f54"/>
    <p:sldId xmlns:r="http://schemas.openxmlformats.org/officeDocument/2006/relationships" id="267" r:id="R584d10998ab74cb6"/>
    <p:sldId xmlns:r="http://schemas.openxmlformats.org/officeDocument/2006/relationships" id="268" r:id="Re5527d02fb074541"/>
    <p:sldId xmlns:r="http://schemas.openxmlformats.org/officeDocument/2006/relationships" id="269" r:id="R756e01b4c42d4f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e99d95133d4c23" /><Relationship Type="http://schemas.openxmlformats.org/officeDocument/2006/relationships/slideMaster" Target="/ppt/slideMasters/slideMaster1.xml" Id="Rf0a5e90818a64fdb" /><Relationship Type="http://schemas.openxmlformats.org/officeDocument/2006/relationships/notesMaster" Target="/ppt/notesMasters/notesMaster1.xml" Id="R0e67ab8d4ed6461e" /><Relationship Type="http://schemas.openxmlformats.org/officeDocument/2006/relationships/presProps" Target="/ppt/presProps.xml" Id="R89f863113f664d86" /><Relationship Type="http://schemas.openxmlformats.org/officeDocument/2006/relationships/tableStyles" Target="/ppt/tableStyles.xml" Id="R23969c47a8f94374" /><Relationship Type="http://schemas.openxmlformats.org/officeDocument/2006/relationships/slide" Target="/ppt/slides/slide1.xml" Id="R27f06eed3c2e4091" /><Relationship Type="http://schemas.openxmlformats.org/officeDocument/2006/relationships/slide" Target="/ppt/slides/slide2.xml" Id="R993462a205db411a" /><Relationship Type="http://schemas.openxmlformats.org/officeDocument/2006/relationships/slide" Target="/ppt/slides/slide3.xml" Id="Rfc6179643fab4534" /><Relationship Type="http://schemas.openxmlformats.org/officeDocument/2006/relationships/slide" Target="/ppt/slides/slide4.xml" Id="R347fa10af1bc4221" /><Relationship Type="http://schemas.openxmlformats.org/officeDocument/2006/relationships/slide" Target="/ppt/slides/slide5.xml" Id="R0f7c5129091548ab" /><Relationship Type="http://schemas.openxmlformats.org/officeDocument/2006/relationships/slide" Target="/ppt/slides/slide6.xml" Id="Rdc33bddb5c164e0c" /><Relationship Type="http://schemas.openxmlformats.org/officeDocument/2006/relationships/slide" Target="/ppt/slides/slide7.xml" Id="R5c6f01279a65451f" /><Relationship Type="http://schemas.openxmlformats.org/officeDocument/2006/relationships/slide" Target="/ppt/slides/slide8.xml" Id="R4110ef281c404f4b" /><Relationship Type="http://schemas.openxmlformats.org/officeDocument/2006/relationships/slide" Target="/ppt/slides/slide9.xml" Id="R52b4ff8ea8cc47cc" /><Relationship Type="http://schemas.openxmlformats.org/officeDocument/2006/relationships/slide" Target="/ppt/slides/slide10.xml" Id="R566c8c11f3ec42e7" /><Relationship Type="http://schemas.openxmlformats.org/officeDocument/2006/relationships/slide" Target="/ppt/slides/slide11.xml" Id="Rf68686bb3b734f54" /><Relationship Type="http://schemas.openxmlformats.org/officeDocument/2006/relationships/slide" Target="/ppt/slides/slide12.xml" Id="R584d10998ab74cb6" /><Relationship Type="http://schemas.openxmlformats.org/officeDocument/2006/relationships/slide" Target="/ppt/slides/slide13.xml" Id="Re5527d02fb074541" /><Relationship Type="http://schemas.openxmlformats.org/officeDocument/2006/relationships/slide" Target="/ppt/slides/slide14.xml" Id="R756e01b4c42d4f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c5607d2c27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27c50ab37741b3" /><Relationship Type="http://schemas.openxmlformats.org/officeDocument/2006/relationships/notesMaster" Target="/ppt/notesMasters/notesMaster1.xml" Id="Re646c957c1d24b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e815831a4b4676" /><Relationship Type="http://schemas.openxmlformats.org/officeDocument/2006/relationships/notesMaster" Target="/ppt/notesMasters/notesMaster1.xml" Id="Rbb23d34f4cd84b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85c7b687854018" /><Relationship Type="http://schemas.openxmlformats.org/officeDocument/2006/relationships/notesMaster" Target="/ppt/notesMasters/notesMaster1.xml" Id="Rb1e4c41f537f48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1521985bfb4cea" /><Relationship Type="http://schemas.openxmlformats.org/officeDocument/2006/relationships/notesMaster" Target="/ppt/notesMasters/notesMaster1.xml" Id="R4f801c4dc6514f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6f62b3e3ef40d1" /><Relationship Type="http://schemas.openxmlformats.org/officeDocument/2006/relationships/notesMaster" Target="/ppt/notesMasters/notesMaster1.xml" Id="R2f419e57767047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0a90fd3d734087" /><Relationship Type="http://schemas.openxmlformats.org/officeDocument/2006/relationships/notesMaster" Target="/ppt/notesMasters/notesMaster1.xml" Id="R7fdab82976254c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0a197e53604266" /><Relationship Type="http://schemas.openxmlformats.org/officeDocument/2006/relationships/notesMaster" Target="/ppt/notesMasters/notesMaster1.xml" Id="Rd6a361b944d343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d8e76872e74129" /><Relationship Type="http://schemas.openxmlformats.org/officeDocument/2006/relationships/notesMaster" Target="/ppt/notesMasters/notesMaster1.xml" Id="R8854cb4f703649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85e24e36744f37" /><Relationship Type="http://schemas.openxmlformats.org/officeDocument/2006/relationships/notesMaster" Target="/ppt/notesMasters/notesMaster1.xml" Id="Rb5cb44fa8e3747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0be81099564fef" /><Relationship Type="http://schemas.openxmlformats.org/officeDocument/2006/relationships/notesMaster" Target="/ppt/notesMasters/notesMaster1.xml" Id="Rbe1578c4c03d4d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c4e4ee507c4dd3" /><Relationship Type="http://schemas.openxmlformats.org/officeDocument/2006/relationships/notesMaster" Target="/ppt/notesMasters/notesMaster1.xml" Id="R1fc317ffbeb04d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6f1c49fe704102" /><Relationship Type="http://schemas.openxmlformats.org/officeDocument/2006/relationships/notesMaster" Target="/ppt/notesMasters/notesMaster1.xml" Id="Rbd689d8c7dcc4b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44d800cae04c0f" /><Relationship Type="http://schemas.openxmlformats.org/officeDocument/2006/relationships/notesMaster" Target="/ppt/notesMasters/notesMaster1.xml" Id="R73b94667870049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2466581cf942d3" /><Relationship Type="http://schemas.openxmlformats.org/officeDocument/2006/relationships/notesMaster" Target="/ppt/notesMasters/notesMaster1.xml" Id="R0d4c9759633342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  <a:p xmlns:a="http://schemas.openxmlformats.org/drawingml/2006/main">
            <a:r>
              <a:t>- https://modelcontextprotocol.io/specification/2026-07-28/architecture</a:t>
            </a:r>
          </a:p>
          <a:p xmlns:a="http://schemas.openxmlformats.org/drawingml/2006/main">
            <a:r>
              <a:t>- https://modelcontextprotocol.io/specification/2026-07-28/server/tools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  <a:p xmlns:a="http://schemas.openxmlformats.org/drawingml/2006/main">
            <a:r>
              <a:t>- https://modelcontextprotocol.io/specification/2026-07-28/architecture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patent disclosure draft: Agent-side MCP Security Runtime, V0.1,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336c856764d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ba8f918f7d4c56" /><Relationship Type="http://schemas.openxmlformats.org/officeDocument/2006/relationships/slideLayout" Target="/ppt/slideLayouts/slideLayout1.xml" Id="Ra3b799a432df4e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b799a432df4e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580990c2c4fa3" /><Relationship Type="http://schemas.openxmlformats.org/officeDocument/2006/relationships/notesSlide" Target="/ppt/notesSlides/notesSlide1.xml" Id="Rf4bb1124c2d445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93f79ddce425d" /><Relationship Type="http://schemas.openxmlformats.org/officeDocument/2006/relationships/notesSlide" Target="/ppt/notesSlides/notesSlide2.xml" Id="R74578a3781a543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d39785f9e4a13" /><Relationship Type="http://schemas.openxmlformats.org/officeDocument/2006/relationships/notesSlide" Target="/ppt/notesSlides/notesSlide3.xml" Id="R82e2958fb7344d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a5905934b4cf2" /><Relationship Type="http://schemas.openxmlformats.org/officeDocument/2006/relationships/notesSlide" Target="/ppt/notesSlides/notesSlide4.xml" Id="R5f1706473d1f47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f18d2af354a7c" /><Relationship Type="http://schemas.openxmlformats.org/officeDocument/2006/relationships/notesSlide" Target="/ppt/notesSlides/notesSlide5.xml" Id="Raacfefc1df4540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67d52276e448c" /><Relationship Type="http://schemas.openxmlformats.org/officeDocument/2006/relationships/notesSlide" Target="/ppt/notesSlides/notesSlide6.xml" Id="R481f5425b79147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dc25a8d3142d6" /><Relationship Type="http://schemas.openxmlformats.org/officeDocument/2006/relationships/notesSlide" Target="/ppt/notesSlides/notesSlide7.xml" Id="Rd7b145a685ef4b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fa924666744ff" /><Relationship Type="http://schemas.openxmlformats.org/officeDocument/2006/relationships/notesSlide" Target="/ppt/notesSlides/notesSlide8.xml" Id="R7b07bd0e6cad4c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d44e6965b4a25" /><Relationship Type="http://schemas.openxmlformats.org/officeDocument/2006/relationships/notesSlide" Target="/ppt/notesSlides/notesSlide9.xml" Id="R8fee28b18ff745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e4d4b493c42d3" /><Relationship Type="http://schemas.openxmlformats.org/officeDocument/2006/relationships/notesSlide" Target="/ppt/notesSlides/notesSlide10.xml" Id="Rc3b59c5e78bc42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3f5253506420d" /><Relationship Type="http://schemas.openxmlformats.org/officeDocument/2006/relationships/notesSlide" Target="/ppt/notesSlides/notesSlide11.xml" Id="R509fe0821e0044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112d2d4154a7f" /><Relationship Type="http://schemas.openxmlformats.org/officeDocument/2006/relationships/notesSlide" Target="/ppt/notesSlides/notesSlide12.xml" Id="R3e485c2211b543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cfd00bc2d4407" /><Relationship Type="http://schemas.openxmlformats.org/officeDocument/2006/relationships/notesSlide" Target="/ppt/notesSlides/notesSlide13.xml" Id="Rb183761082644c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7eca8a5384262" /><Relationship Type="http://schemas.openxmlformats.org/officeDocument/2006/relationships/notesSlide" Target="/ppt/notesSlides/notesSlide14.xml" Id="Re6febd71cf024e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27289D9-E312-47FE-9F89-A59D9C68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Agent-side MCP
Security Runtime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71AB0DA-665D-47C7-8B84-4F627F2D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Intent Capability Envelope + Cross-tool Provenance Tracking
Pre-call protection against untrusted MCP-induced behavior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BF7EEA5-E70D-40A3-A7AE-3C085408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PATENT PROPOSAL</a:t>
            </a:r>
          </a:p>
        </p:txBody>
      </p:sp>
    </p:spTree>
    <p:extLst>
      <p:ext uri="{BB962C8B-B14F-4D97-AF65-F5344CB8AC3E}">
        <p14:creationId xmlns:p14="http://schemas.microsoft.com/office/powerpoint/2010/main" val="18379158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3BF5073-9B66-4DE1-9A4A-1FF6BEF6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BB20283-D74C-4A86-B93F-65BD8F6C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| Background — MCP turns untrusted tool output into future Agent behavior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D534C2E-0DC8-45BF-A261-CC608BB4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Technical field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Agent runtime security, Model Context Protocol (MCP) client security, tool-call access control and data provenance. The protection layer is positioned in the Agent Host or an equivalent runtime execution layer.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F7191500-C3BC-4D99-9DB6-415D019C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Typical prior-art defenses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Tool-definition / schema inspection; per-call argument validation; prompt-injection classification on Tool Results; server-side permission checks; network-side MCP gateways. Each addresses a local event, but not the full Result → next Tool Call behavior chain.</a:t>
            </a:r>
          </a:p>
        </p:txBody>
      </p:sp>
    </p:spTree>
    <p:extLst>
      <p:ext uri="{BB962C8B-B14F-4D97-AF65-F5344CB8AC3E}">
        <p14:creationId xmlns:p14="http://schemas.microsoft.com/office/powerpoint/2010/main" val="9958148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F2F29BB-A6AC-4C6C-AF70-64C204F3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7543690-089E-4554-9A25-22E3E626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| Problems — existing controls miss why a later high-privilege call occurred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BEDBCD3-3A86-4BD5-9184-7B711DFE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task-level boundary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Server permission ≠ permission required by the current user intent. A globally legal tool can still be unnecessary and dangerous in this session.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BFFA6F5D-B23A-440E-82B4-D57F9FDF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60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execution-time closure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Injection classifiers can miss attacks. A security boundary must still decide before the next tools/call causes a real side effect.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2DA495CB-8E62-41D7-922C-A0530F88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7461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cross-tool provenance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Single-call validation cannot prove that a path, URL, command or sensitive data object came from an earlier untrusted MCP Result.</a:t>
            </a:r>
          </a:p>
        </p:txBody>
      </p:sp>
    </p:spTree>
    <p:extLst>
      <p:ext uri="{BB962C8B-B14F-4D97-AF65-F5344CB8AC3E}">
        <p14:creationId xmlns:p14="http://schemas.microsoft.com/office/powerpoint/2010/main" val="12440865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03666AF-61AC-47E0-9833-D079EBA3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80A2B6E-91FF-4CD0-8F9A-66CDC069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| Summary — bind each session to an intent-derived capability envelope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7015FB6C-3AD5-479C-B9EA-4FAD7388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C74698E-1930-4BEF-9AA7-CA42A37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Novelty focus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F5B1E014-ACC1-4290-95BF-4F72467C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Intent → capability set, not free-text risk score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Result → argument/data provenance evidence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Capability Delta evaluated before execution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9F9E1AB7-0457-4A92-8E25-2FE72159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AE226C1-CA5D-4777-849B-1ECC996D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Inventive step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253FF6D-99A9-46A6-8863-B21395D7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Links prompt-injection evidence to actual tool behavior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Untrusted Results cannot self-expand the envelope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dependence on hidden LLM chain-of-thought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6FC4697-C3B7-4225-A9B3-9E45BC30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Core invention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Convert the user request into a comparable Intent Capability Envelope E₀; tag MCP Results with provenance and trust; then compare every later candidate call against E₀.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If a capability increase is traceable to an UNTRUSTED Result, enforce security control before the request reaches the MCP Server.</a:t>
            </a:r>
          </a:p>
        </p:txBody>
      </p:sp>
    </p:spTree>
    <p:extLst>
      <p:ext uri="{BB962C8B-B14F-4D97-AF65-F5344CB8AC3E}">
        <p14:creationId xmlns:p14="http://schemas.microsoft.com/office/powerpoint/2010/main" val="2193594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2CCB516-79BF-474B-847B-6A00A1CF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E781021-EC94-4EF8-A11F-069D2EAB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2.2 | Method flow — establish scope, track influence, control the next call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74DCCC8-49D3-4292-9D62-C2073991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C1EADC96-CFCD-4FBE-B974-A3274572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82196CF-866E-4C59-8741-CDEB5EE7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D548938-66DB-474C-84D3-E0C9682F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S101–S102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05D1B79-537E-4667-A4BE-B0FCD9C4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S103–S104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863B369-8C2E-45D3-B362-C8E54DB8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S105–S108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20EAC57-5776-4E33-A185-3A7ECA7C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Track influence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Tag each Tool Result with provenance, trust and sensitivity; extract atoms and taint; update the event graph.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EC9C1C6-0E60-4A1A-86F1-D1E583D1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Establish scope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E₀ from user intent, Tool Security Profiles and enterprise policy. Intercept candidate tools/call before transport.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35DD9D5-46EF-4EF7-9EC2-32C3FA33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Decide pre-call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Compute ΔC / ΔF / ΔD / ΔO. Trace Result→Call evidence. Enforce ALLOW / ASK / SANITIZE / BLOCK before send.</a:t>
            </a:r>
          </a:p>
        </p:txBody>
      </p:sp>
    </p:spTree>
    <p:extLst>
      <p:ext uri="{BB962C8B-B14F-4D97-AF65-F5344CB8AC3E}">
        <p14:creationId xmlns:p14="http://schemas.microsoft.com/office/powerpoint/2010/main" val="1111153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6">
            <a:extLst xmlns:a="http://schemas.openxmlformats.org/drawingml/2006/main">
              <a:ext uri="{FF2B5EF4-FFF2-40B4-BE49-F238E27FC236}">
                <a16:creationId xmlns:a16="http://schemas.microsoft.com/office/drawing/2014/main" id="{959BC472-156A-4066-8D33-F9C31B90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2.2 | Embodiment — a weather Result induces an out-of-scope credential read</a:t>
            </a:r>
          </a:p>
        </p:txBody>
      </p:sp>
      <p:sp>
        <p:nvSpPr>
          <p:cNvPr id="2" name="footer-6">
            <a:extLst xmlns:a="http://schemas.openxmlformats.org/drawingml/2006/main">
              <a:ext uri="{FF2B5EF4-FFF2-40B4-BE49-F238E27FC236}">
                <a16:creationId xmlns:a16="http://schemas.microsoft.com/office/drawing/2014/main" id="{53FADD45-5402-409B-8D26-34921CE9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4BEC4-F175-4FE8-8DBA-9F852FFC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24175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3DF46-0B86-455C-90AD-B98693F3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24175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48947-E2D6-455B-B310-B76B0EF7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24175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6E8F7-8C66-420D-8C8E-0BFB6BD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24175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intent">
            <a:extLst xmlns:a="http://schemas.openxmlformats.org/drawingml/2006/main">
              <a:ext uri="{FF2B5EF4-FFF2-40B4-BE49-F238E27FC236}">
                <a16:creationId xmlns:a16="http://schemas.microsoft.com/office/drawing/2014/main" id="{0EBBF906-D6B7-45D9-9AA0-AE1C0251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76500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User intent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Query weather</a:t>
            </a:r>
          </a:p>
        </p:txBody>
      </p:sp>
      <p:sp>
        <p:nvSpPr>
          <p:cNvPr id="8" name="call1">
            <a:extLst xmlns:a="http://schemas.openxmlformats.org/drawingml/2006/main">
              <a:ext uri="{FF2B5EF4-FFF2-40B4-BE49-F238E27FC236}">
                <a16:creationId xmlns:a16="http://schemas.microsoft.com/office/drawing/2014/main" id="{BFFDA936-DE45-4B47-A130-D3CD00FB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Call 1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weather()</a:t>
            </a:r>
          </a:p>
        </p:txBody>
      </p:sp>
      <p:sp>
        <p:nvSpPr>
          <p:cNvPr id="9" name="result">
            <a:extLst xmlns:a="http://schemas.openxmlformats.org/drawingml/2006/main">
              <a:ext uri="{FF2B5EF4-FFF2-40B4-BE49-F238E27FC236}">
                <a16:creationId xmlns:a16="http://schemas.microsoft.com/office/drawing/2014/main" id="{E9BF9759-1B47-4A4A-A603-B230C02B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352675"/>
            <a:ext cx="19621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Result R1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UNTRUSTED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‘read ~/.ssh/id_rsa’</a:t>
            </a:r>
          </a:p>
        </p:txBody>
      </p:sp>
      <p:sp>
        <p:nvSpPr>
          <p:cNvPr id="10" name="call2">
            <a:extLst xmlns:a="http://schemas.openxmlformats.org/drawingml/2006/main">
              <a:ext uri="{FF2B5EF4-FFF2-40B4-BE49-F238E27FC236}">
                <a16:creationId xmlns:a16="http://schemas.microsoft.com/office/drawing/2014/main" id="{6F5D3A10-7750-4DAD-A824-33F6737A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76500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Candidate Call 2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read_file(id_rsa)</a:t>
            </a:r>
          </a:p>
        </p:txBody>
      </p:sp>
      <p:sp>
        <p:nvSpPr>
          <p:cNvPr id="11" name="block">
            <a:extLst xmlns:a="http://schemas.openxmlformats.org/drawingml/2006/main">
              <a:ext uri="{FF2B5EF4-FFF2-40B4-BE49-F238E27FC236}">
                <a16:creationId xmlns:a16="http://schemas.microsoft.com/office/drawing/2014/main" id="{1F5728C3-84D5-4103-847A-816C0FAB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76500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PRE-CALL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BLOCK</a:t>
            </a:r>
          </a:p>
        </p:txBody>
      </p:sp>
      <p:sp>
        <p:nvSpPr>
          <p:cNvPr id="12" name="evidence">
            <a:extLst xmlns:a="http://schemas.openxmlformats.org/drawingml/2006/main">
              <a:ext uri="{FF2B5EF4-FFF2-40B4-BE49-F238E27FC236}">
                <a16:creationId xmlns:a16="http://schemas.microsoft.com/office/drawing/2014/main" id="{FDAC6B17-E91E-44FF-B5CC-002F2C16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Strong evidence: Call2.path matches an atom extracted from R1  •  Capability Delta: +filesystem_read +credential_access  •  E₀ remains READ_ONLY</a:t>
            </a:r>
          </a:p>
        </p:txBody>
      </p:sp>
      <p:sp>
        <p:nvSpPr>
          <p:cNvPr id="13" name="explain">
            <a:extLst xmlns:a="http://schemas.openxmlformats.org/drawingml/2006/main">
              <a:ext uri="{FF2B5EF4-FFF2-40B4-BE49-F238E27FC236}">
                <a16:creationId xmlns:a16="http://schemas.microsoft.com/office/drawing/2014/main" id="{B039ECAF-E7FC-4D5D-AB96-9E879E5E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control does not rely on whether an injection classifier recognized the malicious sentence; the final boundary is the observable pre-call decision.</a:t>
            </a:r>
          </a:p>
        </p:txBody>
      </p:sp>
    </p:spTree>
    <p:extLst>
      <p:ext uri="{BB962C8B-B14F-4D97-AF65-F5344CB8AC3E}">
        <p14:creationId xmlns:p14="http://schemas.microsoft.com/office/powerpoint/2010/main" val="8038142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7">
            <a:extLst xmlns:a="http://schemas.openxmlformats.org/drawingml/2006/main">
              <a:ext uri="{FF2B5EF4-FFF2-40B4-BE49-F238E27FC236}">
                <a16:creationId xmlns:a16="http://schemas.microsoft.com/office/drawing/2014/main" id="{23A43DFC-07E0-4309-A8E6-46F56F8C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2.2 | Structure — security state sits where Host intent and MCP I/O are both observable</a:t>
            </a:r>
          </a:p>
        </p:txBody>
      </p:sp>
      <p:sp>
        <p:nvSpPr>
          <p:cNvPr id="2" name="footer-7">
            <a:extLst xmlns:a="http://schemas.openxmlformats.org/drawingml/2006/main">
              <a:ext uri="{FF2B5EF4-FFF2-40B4-BE49-F238E27FC236}">
                <a16:creationId xmlns:a16="http://schemas.microsoft.com/office/drawing/2014/main" id="{CAF05B33-D4D3-4F41-9793-E52EEC2D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38DE9-0E4F-47D4-BACF-7F4B1BE3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00375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2A7CC-4C21-47D7-9975-AE6CB5B2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00375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AB301-C004-4096-9A12-D2ABDC16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00375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5446B-1909-4520-9257-0DB88760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76425"/>
            <a:ext cx="2667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host">
            <a:extLst xmlns:a="http://schemas.openxmlformats.org/drawingml/2006/main">
              <a:ext uri="{FF2B5EF4-FFF2-40B4-BE49-F238E27FC236}">
                <a16:creationId xmlns:a16="http://schemas.microsoft.com/office/drawing/2014/main" id="{30BAD475-0BE0-4634-9C83-03268039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/ LLM Host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User intent + candidate call</a:t>
            </a:r>
          </a:p>
        </p:txBody>
      </p:sp>
      <p:sp>
        <p:nvSpPr>
          <p:cNvPr id="8" name="runtime">
            <a:extLst xmlns:a="http://schemas.openxmlformats.org/drawingml/2006/main">
              <a:ext uri="{FF2B5EF4-FFF2-40B4-BE49-F238E27FC236}">
                <a16:creationId xmlns:a16="http://schemas.microsoft.com/office/drawing/2014/main" id="{F49C2216-5AAF-4FA5-971D-181E080C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2667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MCP Security Runtime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Envelope • Provenance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Event Graph • Policy</a:t>
            </a:r>
          </a:p>
        </p:txBody>
      </p:sp>
      <p:sp>
        <p:nvSpPr>
          <p:cNvPr id="9" name="client">
            <a:extLst xmlns:a="http://schemas.openxmlformats.org/drawingml/2006/main">
              <a:ext uri="{FF2B5EF4-FFF2-40B4-BE49-F238E27FC236}">
                <a16:creationId xmlns:a16="http://schemas.microsoft.com/office/drawing/2014/main" id="{B2A7B6C7-D02E-473D-ABA1-E736161E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2095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MCP Client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Transport + protocol</a:t>
            </a:r>
          </a:p>
        </p:txBody>
      </p:sp>
      <p:sp>
        <p:nvSpPr>
          <p:cNvPr id="10" name="servers">
            <a:extLst xmlns:a="http://schemas.openxmlformats.org/drawingml/2006/main">
              <a:ext uri="{FF2B5EF4-FFF2-40B4-BE49-F238E27FC236}">
                <a16:creationId xmlns:a16="http://schemas.microsoft.com/office/drawing/2014/main" id="{AA7B198B-768F-4D15-8AB9-B161E35A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76500"/>
            <a:ext cx="2143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MCP Server(s)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Tools / Resources / Prompts</a:t>
            </a:r>
          </a:p>
        </p:txBody>
      </p:sp>
      <p:sp>
        <p:nvSpPr>
          <p:cNvPr id="11" name="control-plane">
            <a:extLst xmlns:a="http://schemas.openxmlformats.org/drawingml/2006/main">
              <a:ext uri="{FF2B5EF4-FFF2-40B4-BE49-F238E27FC236}">
                <a16:creationId xmlns:a16="http://schemas.microsoft.com/office/drawing/2014/main" id="{A634B761-3BD9-466F-8E7B-0ABA2EA4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190625"/>
            <a:ext cx="27241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Enterprise Control Plane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Policy • trust registry • DLP rules</a:t>
            </a:r>
          </a:p>
        </p:txBody>
      </p:sp>
      <p:sp>
        <p:nvSpPr>
          <p:cNvPr id="12" name="hooks">
            <a:extLst xmlns:a="http://schemas.openxmlformats.org/drawingml/2006/main">
              <a:ext uri="{FF2B5EF4-FFF2-40B4-BE49-F238E27FC236}">
                <a16:creationId xmlns:a16="http://schemas.microsoft.com/office/drawing/2014/main" id="{CD059CF3-5D03-4849-BE15-03909DEF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Runtime hooks: tools/list • list_changed • tools/call (pre-send) • Tool Result</a:t>
            </a:r>
          </a:p>
        </p:txBody>
      </p:sp>
      <p:sp>
        <p:nvSpPr>
          <p:cNvPr id="13" name="variants">
            <a:extLst xmlns:a="http://schemas.openxmlformats.org/drawingml/2006/main">
              <a:ext uri="{FF2B5EF4-FFF2-40B4-BE49-F238E27FC236}">
                <a16:creationId xmlns:a16="http://schemas.microsoft.com/office/drawing/2014/main" id="{740179A2-B30C-4494-9B7B-EC98FC00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Deployment variants: in-process SDK (preferred), Host middleware, sidecar, or a gateway with an explicit intent/context channel.</a:t>
            </a:r>
          </a:p>
        </p:txBody>
      </p:sp>
    </p:spTree>
    <p:extLst>
      <p:ext uri="{BB962C8B-B14F-4D97-AF65-F5344CB8AC3E}">
        <p14:creationId xmlns:p14="http://schemas.microsoft.com/office/powerpoint/2010/main" val="15828231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8">
            <a:extLst xmlns:a="http://schemas.openxmlformats.org/drawingml/2006/main">
              <a:ext uri="{FF2B5EF4-FFF2-40B4-BE49-F238E27FC236}">
                <a16:creationId xmlns:a16="http://schemas.microsoft.com/office/drawing/2014/main" id="{198600BE-F0B1-4D62-9D85-CB5D6702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2.3 | Effects — security closes before side effects; performance remains fast-path first</a:t>
            </a:r>
          </a:p>
        </p:txBody>
      </p:sp>
      <p:sp>
        <p:nvSpPr>
          <p:cNvPr id="2" name="footer-8">
            <a:extLst xmlns:a="http://schemas.openxmlformats.org/drawingml/2006/main">
              <a:ext uri="{FF2B5EF4-FFF2-40B4-BE49-F238E27FC236}">
                <a16:creationId xmlns:a16="http://schemas.microsoft.com/office/drawing/2014/main" id="{01536B96-7E39-4B7E-B093-A3895FD3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effects">
            <a:extLst xmlns:a="http://schemas.openxmlformats.org/drawingml/2006/main">
              <a:ext uri="{FF2B5EF4-FFF2-40B4-BE49-F238E27FC236}">
                <a16:creationId xmlns:a16="http://schemas.microsoft.com/office/drawing/2014/main" id="{FD3D6672-07D6-45D4-B5F8-95731A97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905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Technical effects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Stops cross-tool attack chains before tools/call is sent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Enforces least capability at the session/task level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Converts Result→Call provenance into execution evidence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Avoids mandatory per-call security LLM inference</a:t>
            </a:r>
          </a:p>
        </p:txBody>
      </p:sp>
      <p:sp>
        <p:nvSpPr>
          <p:cNvPr id="4" name="eval-title">
            <a:extLst xmlns:a="http://schemas.openxmlformats.org/drawingml/2006/main">
              <a:ext uri="{FF2B5EF4-FFF2-40B4-BE49-F238E27FC236}">
                <a16:creationId xmlns:a16="http://schemas.microsoft.com/office/drawing/2014/main" id="{1A5FFBBC-EFE0-445A-99C2-A84E827E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Experimental validation plan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762500" y="2047875"/>
          <a:ext xmlns:a="http://schemas.openxmlformats.org/drawingml/2006/main" cx="66675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1047750"/>
                <a:gridCol w="295275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How to measure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Cross-tool attack block rate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TBD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Prompt-injected Result → high-risk next call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Benign-task false positive rate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TBD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Legitimate intent changes + approved workflows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Fast-path added latency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TBD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p50 / p95 runtime overhead per safe call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Semantic-model invocation rate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TBD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Share of calls escalated from L0/L1 to L2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data-note">
            <a:extLst xmlns:a="http://schemas.openxmlformats.org/drawingml/2006/main">
              <a:ext uri="{FF2B5EF4-FFF2-40B4-BE49-F238E27FC236}">
                <a16:creationId xmlns:a16="http://schemas.microsoft.com/office/drawing/2014/main" id="{60CBB63B-67E9-496A-8DC9-1301EAFC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958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No measured MVP data is claimed in this deck; measured values should replace the TBD cells after prototype testing.</a:t>
            </a:r>
          </a:p>
        </p:txBody>
      </p:sp>
    </p:spTree>
    <p:extLst>
      <p:ext uri="{BB962C8B-B14F-4D97-AF65-F5344CB8AC3E}">
        <p14:creationId xmlns:p14="http://schemas.microsoft.com/office/powerpoint/2010/main" val="14146844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0A50D22-39E6-415C-A0E7-AF40C874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8EA9759-5083-4937-8BC2-A7028894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| Industrial applicability — the invention maps from runtime metadata to enterprise systems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22FF5415-442B-44AD-BFBE-51035525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Capability ontology + provenance / taint metadata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A8A6492-6A96-4203-AD53-5060AEA3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layer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8C043F97-1D65-4D21-A245-77CA3C3C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Security Runtime SDK / Host middleware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98ACBC7-02C9-4B63-A03F-D7AE618D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Component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1712038-2710-43E0-BED2-97ACF0EA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 platform / MCP client protection feature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386FC313-C6BB-44AF-859B-3A2A3C8D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FA76A8AB-FDE6-4FD3-AED0-0A18597B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Enterprise control plane + policy + SOC integration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E378DB43-AEFD-4BD8-BFD5-E2B12C55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System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3B82D4F1-95E1-4962-BFCE-18646DC1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Application entities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invention is software-native but can be embodied at multiple product levels.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can protect agents that consume internal, third-party or dynamically changing MCP servers without modifying those servers.</a:t>
            </a:r>
          </a:p>
        </p:txBody>
      </p:sp>
    </p:spTree>
    <p:extLst>
      <p:ext uri="{BB962C8B-B14F-4D97-AF65-F5344CB8AC3E}">
        <p14:creationId xmlns:p14="http://schemas.microsoft.com/office/powerpoint/2010/main" val="8865475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CF5DB60-8483-4F16-8D1E-5E7CE88F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591CF1C-E588-4275-ABD5-A20D6EFA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| Biz utilization plan — start as an SDK, then standardize the enterprise control plane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1A11E16-7805-4648-805E-547FDBE9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83B90C1-A339-4F89-9D76-E2C976F4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37B9D28-2DC0-45A0-BE5A-1323754C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B6744031-6EF2-4B1D-A758-D50A24F0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C2696E5D-4B2D-4C33-BBA6-BD7B2063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MVP &amp; pilot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 Envelope, Tool Profile, provenance index and pre-call policy hooks. Validate weather/read_file/upload attack chains in the existing MCP test environment.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0856EF93-4909-4E93-9A25-A6688024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D7076E2D-0E9F-4DB5-AD8F-751CC084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Agent-platform integration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Package as in-process Runtime / middleware for LangGraph and internal Agents; add centralized policy and audit interfaces.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549DAF0-0C3F-4363-9E0D-AEECE530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D1FFAB43-0BFD-4722-B308-F59460F7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Enterprise scale-out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Extend to multiple Agent frameworks and MCP servers; connect DLP, trust registry and SOC workflows while preserving the same runtime evidence model.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1116E5FC-576B-4A91-A401-5238723D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H1 2027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7AB12E43-670F-4A7F-A9C2-379743A1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H2 2026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D40B6B61-EC6F-492C-875F-BFBB7276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2027+</a:t>
            </a:r>
          </a:p>
        </p:txBody>
      </p:sp>
    </p:spTree>
    <p:extLst>
      <p:ext uri="{BB962C8B-B14F-4D97-AF65-F5344CB8AC3E}">
        <p14:creationId xmlns:p14="http://schemas.microsoft.com/office/powerpoint/2010/main" val="15274238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95C9A1E-B916-444A-9554-BA0B52CA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524B521-E517-4DD4-8C42-08782CEF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| Infringement detectability — the protected sequence leaves observable runtime evidence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B27527FB-320B-4C06-BE54-1C295F58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E294E12-A914-45D7-82EA-DB843CCA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Behavioral / black-box evidence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F28D6F6B-9C34-45BD-B71B-7240DA0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Packet capture: risky tools/call is absent pre-approval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Audit: capability delta + source Result / taint ancestry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A/B test: trusted user event expands the envelope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513359A-AC8E-4232-9973-ADFDE4E9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D6E7E407-B928-4850-96F5-A189B720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 / documentary evidence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8818AF2-1278-4C6A-9EC2-57C8BF9B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SDK/API docs expose intent boundary, provenance or pre-call hooks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Product/SOC events expose ALLOW / ASK / SANITIZE / BLOCK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Source, symbols, config or patents reveal equivalent modules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A1F25A9-E3E0-455A-ACB6-BE115607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Detectability approach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Reproduce an Agent session in which an untrusted Tool Result introduces a new path/URL/data object, then observe whether the next out-of-envelope call is provenance-linked and controlled before transmission.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Repeat with an explicit user authorization event: a conforming implementation should be able to update the capability boundary from the trusted event rather than from the Tool Result itself.</a:t>
            </a:r>
          </a:p>
        </p:txBody>
      </p:sp>
    </p:spTree>
    <p:extLst>
      <p:ext uri="{BB962C8B-B14F-4D97-AF65-F5344CB8AC3E}">
        <p14:creationId xmlns:p14="http://schemas.microsoft.com/office/powerpoint/2010/main" val="4944918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2">
            <a:extLst xmlns:a="http://schemas.openxmlformats.org/drawingml/2006/main">
              <a:ext uri="{FF2B5EF4-FFF2-40B4-BE49-F238E27FC236}">
                <a16:creationId xmlns:a16="http://schemas.microsoft.com/office/drawing/2014/main" id="{B09AED58-3B7E-447D-88C4-D8EA409A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| Claim 1 (1/2) — build the boundary and preserve Result provenance</a:t>
            </a:r>
          </a:p>
        </p:txBody>
      </p:sp>
      <p:sp>
        <p:nvSpPr>
          <p:cNvPr id="2" name="footer-12">
            <a:extLst xmlns:a="http://schemas.openxmlformats.org/drawingml/2006/main">
              <a:ext uri="{FF2B5EF4-FFF2-40B4-BE49-F238E27FC236}">
                <a16:creationId xmlns:a16="http://schemas.microsoft.com/office/drawing/2014/main" id="{81A5EA48-9809-4E6C-8A8B-46497E23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claim-preamble">
            <a:extLst xmlns:a="http://schemas.openxmlformats.org/drawingml/2006/main">
              <a:ext uri="{FF2B5EF4-FFF2-40B4-BE49-F238E27FC236}">
                <a16:creationId xmlns:a16="http://schemas.microsoft.com/office/drawing/2014/main" id="{32A3DE9B-A1C0-494E-BC5F-E0D5A230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method for runtime security protection of an AI Agent using MCP, comprising:</a:t>
            </a:r>
          </a:p>
        </p:txBody>
      </p:sp>
      <p:cxnSp>
        <p:nvCxnSpPr>
          <p:cNvPr id="19" name="claim-rule-1"/>
          <p:cNvCxnSpPr/>
          <p:nvPr/>
        </p:nvCxnSpPr>
        <p:spPr>
          <a:xfrm xmlns:a="http://schemas.openxmlformats.org/drawingml/2006/main">
            <a:off x="523875" y="1876425"/>
            <a:ext cx="1104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claim-num-1">
            <a:extLst xmlns:a="http://schemas.openxmlformats.org/drawingml/2006/main">
              <a:ext uri="{FF2B5EF4-FFF2-40B4-BE49-F238E27FC236}">
                <a16:creationId xmlns:a16="http://schemas.microsoft.com/office/drawing/2014/main" id="{3CC59802-BF36-41B4-ABDD-0AE11FB9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76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claim-head-1">
            <a:extLst xmlns:a="http://schemas.openxmlformats.org/drawingml/2006/main">
              <a:ext uri="{FF2B5EF4-FFF2-40B4-BE49-F238E27FC236}">
                <a16:creationId xmlns:a16="http://schemas.microsoft.com/office/drawing/2014/main" id="{81BC0C09-E69C-4AAA-AF36-809255DC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Intent capability envelope</a:t>
            </a:r>
          </a:p>
        </p:txBody>
      </p:sp>
      <p:sp>
        <p:nvSpPr>
          <p:cNvPr id="7" name="claim-body-1">
            <a:extLst xmlns:a="http://schemas.openxmlformats.org/drawingml/2006/main">
              <a:ext uri="{FF2B5EF4-FFF2-40B4-BE49-F238E27FC236}">
                <a16:creationId xmlns:a16="http://schemas.microsoft.com/office/drawing/2014/main" id="{8A8D2AF8-7B78-4BD5-BEC5-95DC4D10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Obtain a user request and Tool Security Profiles; determine the first tool-capability set required for the request; construct the current-session Intent Capability Envelope.</a:t>
            </a:r>
          </a:p>
        </p:txBody>
      </p:sp>
      <p:cxnSp>
        <p:nvCxnSpPr>
          <p:cNvPr id="23" name="claim-rule-2"/>
          <p:cNvCxnSpPr/>
          <p:nvPr/>
        </p:nvCxnSpPr>
        <p:spPr>
          <a:xfrm xmlns:a="http://schemas.openxmlformats.org/drawingml/2006/main">
            <a:off x="523875" y="3162300"/>
            <a:ext cx="1104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claim-num-2">
            <a:extLst xmlns:a="http://schemas.openxmlformats.org/drawingml/2006/main">
              <a:ext uri="{FF2B5EF4-FFF2-40B4-BE49-F238E27FC236}">
                <a16:creationId xmlns:a16="http://schemas.microsoft.com/office/drawing/2014/main" id="{FCF9D127-57AC-4CFF-BCE1-A33B07B1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76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claim-head-2">
            <a:extLst xmlns:a="http://schemas.openxmlformats.org/drawingml/2006/main">
              <a:ext uri="{FF2B5EF4-FFF2-40B4-BE49-F238E27FC236}">
                <a16:creationId xmlns:a16="http://schemas.microsoft.com/office/drawing/2014/main" id="{99C6BE2E-5966-41FC-AA94-F027EF1A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Pre-call interception</a:t>
            </a:r>
          </a:p>
        </p:txBody>
      </p:sp>
      <p:sp>
        <p:nvSpPr>
          <p:cNvPr id="11" name="claim-body-2">
            <a:extLst xmlns:a="http://schemas.openxmlformats.org/drawingml/2006/main">
              <a:ext uri="{FF2B5EF4-FFF2-40B4-BE49-F238E27FC236}">
                <a16:creationId xmlns:a16="http://schemas.microsoft.com/office/drawing/2014/main" id="{66616E6F-2E78-492F-8878-A1A26F51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Intercept a candidate MCP tool call before transmission to the MCP Server; record its tool capability, actual arguments and call identifier.</a:t>
            </a:r>
          </a:p>
        </p:txBody>
      </p:sp>
      <p:cxnSp>
        <p:nvCxnSpPr>
          <p:cNvPr id="27" name="claim-rule-3"/>
          <p:cNvCxnSpPr/>
          <p:nvPr/>
        </p:nvCxnSpPr>
        <p:spPr>
          <a:xfrm xmlns:a="http://schemas.openxmlformats.org/drawingml/2006/main">
            <a:off x="523875" y="4448175"/>
            <a:ext cx="1104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claim-num-3">
            <a:extLst xmlns:a="http://schemas.openxmlformats.org/drawingml/2006/main">
              <a:ext uri="{FF2B5EF4-FFF2-40B4-BE49-F238E27FC236}">
                <a16:creationId xmlns:a16="http://schemas.microsoft.com/office/drawing/2014/main" id="{24673580-A152-4FA4-A2A7-EAF51D87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76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claim-head-3">
            <a:extLst xmlns:a="http://schemas.openxmlformats.org/drawingml/2006/main">
              <a:ext uri="{FF2B5EF4-FFF2-40B4-BE49-F238E27FC236}">
                <a16:creationId xmlns:a16="http://schemas.microsoft.com/office/drawing/2014/main" id="{ECA5CA84-046C-4F08-8D23-07F19CDE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Result provenance</a:t>
            </a:r>
          </a:p>
        </p:txBody>
      </p:sp>
      <p:sp>
        <p:nvSpPr>
          <p:cNvPr id="15" name="claim-body-3">
            <a:extLst xmlns:a="http://schemas.openxmlformats.org/drawingml/2006/main">
              <a:ext uri="{FF2B5EF4-FFF2-40B4-BE49-F238E27FC236}">
                <a16:creationId xmlns:a16="http://schemas.microsoft.com/office/drawing/2014/main" id="{4E2700B7-B62B-4BB9-B473-74632CE9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2437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Obtain the Tool Result; attach at least provenance and trust metadata; extract propagatable data objects and build a provenance index linked to the Result.</a:t>
            </a:r>
          </a:p>
        </p:txBody>
      </p:sp>
    </p:spTree>
    <p:extLst>
      <p:ext uri="{BB962C8B-B14F-4D97-AF65-F5344CB8AC3E}">
        <p14:creationId xmlns:p14="http://schemas.microsoft.com/office/powerpoint/2010/main" val="24070363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3">
            <a:extLst xmlns:a="http://schemas.openxmlformats.org/drawingml/2006/main">
              <a:ext uri="{FF2B5EF4-FFF2-40B4-BE49-F238E27FC236}">
                <a16:creationId xmlns:a16="http://schemas.microsoft.com/office/drawing/2014/main" id="{ECDF80C3-88AB-491F-A80B-2280F62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| Claim 1 (2/2) — require capability escalation + untrusted influence before control</a:t>
            </a:r>
          </a:p>
        </p:txBody>
      </p:sp>
      <p:sp>
        <p:nvSpPr>
          <p:cNvPr id="2" name="footer-13">
            <a:extLst xmlns:a="http://schemas.openxmlformats.org/drawingml/2006/main">
              <a:ext uri="{FF2B5EF4-FFF2-40B4-BE49-F238E27FC236}">
                <a16:creationId xmlns:a16="http://schemas.microsoft.com/office/drawing/2014/main" id="{7C948297-0450-4C39-A4CF-5B47B5CC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claim-decision-intro">
            <a:extLst xmlns:a="http://schemas.openxmlformats.org/drawingml/2006/main">
              <a:ext uri="{FF2B5EF4-FFF2-40B4-BE49-F238E27FC236}">
                <a16:creationId xmlns:a16="http://schemas.microsoft.com/office/drawing/2014/main" id="{4208FB95-54BE-4244-A094-BD80C87C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decision side of Claim 1 links a measurable capability change to a traceable untrusted source:</a:t>
            </a:r>
          </a:p>
        </p:txBody>
      </p:sp>
      <p:cxnSp>
        <p:nvCxnSpPr>
          <p:cNvPr id="19" name="claim-rule-4"/>
          <p:cNvCxnSpPr/>
          <p:nvPr/>
        </p:nvCxnSpPr>
        <p:spPr>
          <a:xfrm xmlns:a="http://schemas.openxmlformats.org/drawingml/2006/main">
            <a:off x="523875" y="1876425"/>
            <a:ext cx="1104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claim-num-4">
            <a:extLst xmlns:a="http://schemas.openxmlformats.org/drawingml/2006/main">
              <a:ext uri="{FF2B5EF4-FFF2-40B4-BE49-F238E27FC236}">
                <a16:creationId xmlns:a16="http://schemas.microsoft.com/office/drawing/2014/main" id="{663F6B96-9607-4EB8-AE06-D694D0F0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76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claim-head-4">
            <a:extLst xmlns:a="http://schemas.openxmlformats.org/drawingml/2006/main">
              <a:ext uri="{FF2B5EF4-FFF2-40B4-BE49-F238E27FC236}">
                <a16:creationId xmlns:a16="http://schemas.microsoft.com/office/drawing/2014/main" id="{0197B8C7-AD8A-4B4C-B0F9-C8765743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Capability change</a:t>
            </a:r>
          </a:p>
        </p:txBody>
      </p:sp>
      <p:sp>
        <p:nvSpPr>
          <p:cNvPr id="7" name="claim-body-4">
            <a:extLst xmlns:a="http://schemas.openxmlformats.org/drawingml/2006/main">
              <a:ext uri="{FF2B5EF4-FFF2-40B4-BE49-F238E27FC236}">
                <a16:creationId xmlns:a16="http://schemas.microsoft.com/office/drawing/2014/main" id="{D763C266-DF21-42AB-B2D6-03D2FB18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a subsequent candidate call, derive a second capability set from the Tool Security Profile and actual arguments; determine its capability change relative to the Intent Capability Envelope.</a:t>
            </a:r>
          </a:p>
        </p:txBody>
      </p:sp>
      <p:cxnSp>
        <p:nvCxnSpPr>
          <p:cNvPr id="23" name="claim-rule-5"/>
          <p:cNvCxnSpPr/>
          <p:nvPr/>
        </p:nvCxnSpPr>
        <p:spPr>
          <a:xfrm xmlns:a="http://schemas.openxmlformats.org/drawingml/2006/main">
            <a:off x="523875" y="3162300"/>
            <a:ext cx="1104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claim-num-5">
            <a:extLst xmlns:a="http://schemas.openxmlformats.org/drawingml/2006/main">
              <a:ext uri="{FF2B5EF4-FFF2-40B4-BE49-F238E27FC236}">
                <a16:creationId xmlns:a16="http://schemas.microsoft.com/office/drawing/2014/main" id="{779F2AD3-4387-41BE-A9C4-9E5402DB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76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0" name="claim-head-5">
            <a:extLst xmlns:a="http://schemas.openxmlformats.org/drawingml/2006/main">
              <a:ext uri="{FF2B5EF4-FFF2-40B4-BE49-F238E27FC236}">
                <a16:creationId xmlns:a16="http://schemas.microsoft.com/office/drawing/2014/main" id="{B2605C19-CA57-4E2A-96E9-9F6334FD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Influence relationship</a:t>
            </a:r>
          </a:p>
        </p:txBody>
      </p:sp>
      <p:sp>
        <p:nvSpPr>
          <p:cNvPr id="11" name="claim-body-5">
            <a:extLst xmlns:a="http://schemas.openxmlformats.org/drawingml/2006/main">
              <a:ext uri="{FF2B5EF4-FFF2-40B4-BE49-F238E27FC236}">
                <a16:creationId xmlns:a16="http://schemas.microsoft.com/office/drawing/2014/main" id="{57B9A519-DE4D-4562-AF40-65FE5E47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Match at least one call argument or consumed data object to one or more prior Tool Results, establishing a provenance / taint-based influence relationship.</a:t>
            </a:r>
          </a:p>
        </p:txBody>
      </p:sp>
      <p:cxnSp>
        <p:nvCxnSpPr>
          <p:cNvPr id="27" name="claim-rule-6"/>
          <p:cNvCxnSpPr/>
          <p:nvPr/>
        </p:nvCxnSpPr>
        <p:spPr>
          <a:xfrm xmlns:a="http://schemas.openxmlformats.org/drawingml/2006/main">
            <a:off x="523875" y="4448175"/>
            <a:ext cx="1104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claim-num-6">
            <a:extLst xmlns:a="http://schemas.openxmlformats.org/drawingml/2006/main">
              <a:ext uri="{FF2B5EF4-FFF2-40B4-BE49-F238E27FC236}">
                <a16:creationId xmlns:a16="http://schemas.microsoft.com/office/drawing/2014/main" id="{FEE4768A-ED67-47CC-B5C6-79306D68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76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4" name="claim-head-6">
            <a:extLst xmlns:a="http://schemas.openxmlformats.org/drawingml/2006/main">
              <a:ext uri="{FF2B5EF4-FFF2-40B4-BE49-F238E27FC236}">
                <a16:creationId xmlns:a16="http://schemas.microsoft.com/office/drawing/2014/main" id="{5CAA9AE3-2103-4FD4-B1B9-6329FB5C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Pre-call security control</a:t>
            </a:r>
          </a:p>
        </p:txBody>
      </p:sp>
      <p:sp>
        <p:nvSpPr>
          <p:cNvPr id="15" name="claim-body-6">
            <a:extLst xmlns:a="http://schemas.openxmlformats.org/drawingml/2006/main">
              <a:ext uri="{FF2B5EF4-FFF2-40B4-BE49-F238E27FC236}">
                <a16:creationId xmlns:a16="http://schemas.microsoft.com/office/drawing/2014/main" id="{FDFF0D9E-16C9-43AB-83DE-55710AC8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2437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When the capability change satisfies an escalation condition AND the influence relationship involves an untrusted Tool Result, execute BLOCK / ASK / SANITIZE / DOWNGRADE before sending the call.</a:t>
            </a:r>
          </a:p>
        </p:txBody>
      </p:sp>
    </p:spTree>
    <p:extLst>
      <p:ext uri="{BB962C8B-B14F-4D97-AF65-F5344CB8AC3E}">
        <p14:creationId xmlns:p14="http://schemas.microsoft.com/office/powerpoint/2010/main" val="89005345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14">
            <a:extLst xmlns:a="http://schemas.openxmlformats.org/drawingml/2006/main">
              <a:ext uri="{FF2B5EF4-FFF2-40B4-BE49-F238E27FC236}">
                <a16:creationId xmlns:a16="http://schemas.microsoft.com/office/drawing/2014/main" id="{12DB161B-48BA-4260-9DC0-3FDD404A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| Claims 2–5 — fallback positions around representation, trust and provenance</a:t>
            </a:r>
          </a:p>
        </p:txBody>
      </p:sp>
      <p:sp>
        <p:nvSpPr>
          <p:cNvPr id="2" name="footer-14">
            <a:extLst xmlns:a="http://schemas.openxmlformats.org/drawingml/2006/main">
              <a:ext uri="{FF2B5EF4-FFF2-40B4-BE49-F238E27FC236}">
                <a16:creationId xmlns:a16="http://schemas.microsoft.com/office/drawing/2014/main" id="{D296EAB2-09A2-4111-BA48-AFB9EBB5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6096000" y="1524000"/>
            <a:ext cx="953" cy="4238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0" name=""/>
          <p:cNvCxnSpPr/>
          <p:nvPr/>
        </p:nvCxnSpPr>
        <p:spPr>
          <a:xfrm xmlns:a="http://schemas.openxmlformats.org/drawingml/2006/main">
            <a:off x="523875" y="3667125"/>
            <a:ext cx="1104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C2-label">
            <a:extLst xmlns:a="http://schemas.openxmlformats.org/drawingml/2006/main">
              <a:ext uri="{FF2B5EF4-FFF2-40B4-BE49-F238E27FC236}">
                <a16:creationId xmlns:a16="http://schemas.microsoft.com/office/drawing/2014/main" id="{82047A56-B81F-431E-B36B-D69DAFD9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C2</a:t>
            </a:r>
          </a:p>
        </p:txBody>
      </p:sp>
      <p:sp>
        <p:nvSpPr>
          <p:cNvPr id="6" name="C2-head">
            <a:extLst xmlns:a="http://schemas.openxmlformats.org/drawingml/2006/main">
              <a:ext uri="{FF2B5EF4-FFF2-40B4-BE49-F238E27FC236}">
                <a16:creationId xmlns:a16="http://schemas.microsoft.com/office/drawing/2014/main" id="{5D088814-B7CC-4DD7-819B-6D2AFD9A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668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 Security Profile</a:t>
            </a:r>
          </a:p>
        </p:txBody>
      </p:sp>
      <p:sp>
        <p:nvSpPr>
          <p:cNvPr id="7" name="C2-body">
            <a:extLst xmlns:a="http://schemas.openxmlformats.org/drawingml/2006/main">
              <a:ext uri="{FF2B5EF4-FFF2-40B4-BE49-F238E27FC236}">
                <a16:creationId xmlns:a16="http://schemas.microsoft.com/office/drawing/2014/main" id="{082DAE08-0F16-4F51-9520-1D4F8D1B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027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Profile includes tool/server identity, definition fingerprint, capability vector, side-effect level, data class, destination class and/or trust level; client policy constrains the capability interpretation.</a:t>
            </a:r>
          </a:p>
        </p:txBody>
      </p:sp>
      <p:sp>
        <p:nvSpPr>
          <p:cNvPr id="8" name="C3-label">
            <a:extLst xmlns:a="http://schemas.openxmlformats.org/drawingml/2006/main">
              <a:ext uri="{FF2B5EF4-FFF2-40B4-BE49-F238E27FC236}">
                <a16:creationId xmlns:a16="http://schemas.microsoft.com/office/drawing/2014/main" id="{E6C10459-17F4-4034-9BC2-FB82A426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C3</a:t>
            </a:r>
          </a:p>
        </p:txBody>
      </p:sp>
      <p:sp>
        <p:nvSpPr>
          <p:cNvPr id="9" name="C3-head">
            <a:extLst xmlns:a="http://schemas.openxmlformats.org/drawingml/2006/main">
              <a:ext uri="{FF2B5EF4-FFF2-40B4-BE49-F238E27FC236}">
                <a16:creationId xmlns:a16="http://schemas.microsoft.com/office/drawing/2014/main" id="{78013DD4-9EFC-4E46-81F4-842E56F8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Envelope dimensions</a:t>
            </a:r>
          </a:p>
        </p:txBody>
      </p:sp>
      <p:sp>
        <p:nvSpPr>
          <p:cNvPr id="10" name="C3-body">
            <a:extLst xmlns:a="http://schemas.openxmlformats.org/drawingml/2006/main">
              <a:ext uri="{FF2B5EF4-FFF2-40B4-BE49-F238E27FC236}">
                <a16:creationId xmlns:a16="http://schemas.microsoft.com/office/drawing/2014/main" id="{0E65BAE6-1AB9-4EA4-A312-4A6B0F60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Intent Capability Envelope further limits maximum side effect, allowed data class, allowed destinations and/or capabilities requiring authorization.</a:t>
            </a:r>
          </a:p>
        </p:txBody>
      </p:sp>
      <p:sp>
        <p:nvSpPr>
          <p:cNvPr id="11" name="C4-label">
            <a:extLst xmlns:a="http://schemas.openxmlformats.org/drawingml/2006/main">
              <a:ext uri="{FF2B5EF4-FFF2-40B4-BE49-F238E27FC236}">
                <a16:creationId xmlns:a16="http://schemas.microsoft.com/office/drawing/2014/main" id="{93900AC0-6379-4506-9582-43E76547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528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C4</a:t>
            </a:r>
          </a:p>
        </p:txBody>
      </p:sp>
      <p:sp>
        <p:nvSpPr>
          <p:cNvPr id="12" name="C4-head">
            <a:extLst xmlns:a="http://schemas.openxmlformats.org/drawingml/2006/main">
              <a:ext uri="{FF2B5EF4-FFF2-40B4-BE49-F238E27FC236}">
                <a16:creationId xmlns:a16="http://schemas.microsoft.com/office/drawing/2014/main" id="{4BF745DC-432A-45FC-A372-6DCE5B5E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528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Trust-monotonic update</a:t>
            </a:r>
          </a:p>
        </p:txBody>
      </p:sp>
      <p:sp>
        <p:nvSpPr>
          <p:cNvPr id="13" name="C4-body">
            <a:extLst xmlns:a="http://schemas.openxmlformats.org/drawingml/2006/main">
              <a:ext uri="{FF2B5EF4-FFF2-40B4-BE49-F238E27FC236}">
                <a16:creationId xmlns:a16="http://schemas.microsoft.com/office/drawing/2014/main" id="{EE19E3DD-5912-452E-9A75-34D37667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envelope expands only from a trusted authorization event; an untrusted MCP Tool Result or its derived data cannot automatically expand the current boundary.</a:t>
            </a:r>
          </a:p>
        </p:txBody>
      </p:sp>
      <p:sp>
        <p:nvSpPr>
          <p:cNvPr id="14" name="C5-label">
            <a:extLst xmlns:a="http://schemas.openxmlformats.org/drawingml/2006/main">
              <a:ext uri="{FF2B5EF4-FFF2-40B4-BE49-F238E27FC236}">
                <a16:creationId xmlns:a16="http://schemas.microsoft.com/office/drawing/2014/main" id="{7205FF91-61FC-467A-9BFB-52640561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C5</a:t>
            </a:r>
          </a:p>
        </p:txBody>
      </p:sp>
      <p:sp>
        <p:nvSpPr>
          <p:cNvPr id="15" name="C5-head">
            <a:extLst xmlns:a="http://schemas.openxmlformats.org/drawingml/2006/main">
              <a:ext uri="{FF2B5EF4-FFF2-40B4-BE49-F238E27FC236}">
                <a16:creationId xmlns:a16="http://schemas.microsoft.com/office/drawing/2014/main" id="{0F1BB916-018B-47A2-9684-EF02750D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Provenance atoms</a:t>
            </a:r>
          </a:p>
        </p:txBody>
      </p:sp>
      <p:sp>
        <p:nvSpPr>
          <p:cNvPr id="16" name="C5-body">
            <a:extLst xmlns:a="http://schemas.openxmlformats.org/drawingml/2006/main">
              <a:ext uri="{FF2B5EF4-FFF2-40B4-BE49-F238E27FC236}">
                <a16:creationId xmlns:a16="http://schemas.microsoft.com/office/drawing/2014/main" id="{1E3C9F0B-CA7C-4566-AE6A-5330EC8F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8627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Normalize structured/unstructured Result content; extract URL, domain, path, command, identifier, record key or text atoms; bind their fingerprints to the corresponding Result ID.</a:t>
            </a:r>
          </a:p>
        </p:txBody>
      </p:sp>
    </p:spTree>
    <p:extLst>
      <p:ext uri="{BB962C8B-B14F-4D97-AF65-F5344CB8AC3E}">
        <p14:creationId xmlns:p14="http://schemas.microsoft.com/office/powerpoint/2010/main" val="251156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2026-08-08T12:09:59.4890000Z</dcterms:created>
  <dcterms:modified xsi:type="dcterms:W3CDTF">2026-08-08T12:09:59.4890000Z</dcterms:modified>
</coreProperties>
</file>