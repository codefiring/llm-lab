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03120"/>
            <a:ext cx="105156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1B5E8C"/>
                </a:solidFill>
                <a:latin typeface="Microsoft YaHei"/>
              </a:rPr>
              <a:t>MCP 客户端动态安全防护</a:t>
            </a:r>
          </a:p>
          <a:p>
            <a:r>
              <a:rPr sz="2000" b="0" i="0">
                <a:solidFill>
                  <a:srgbClr val="1A1A1A"/>
                </a:solidFill>
                <a:latin typeface="Microsoft YaHei"/>
              </a:rPr>
              <a:t>基于 AgentDojo 与 InjecAgent 公开基准的四组实验</a:t>
            </a:r>
          </a:p>
          <a:p>
            <a:pPr>
              <a:spcBef>
                <a:spcPts val="1800"/>
              </a:spcBef>
            </a:pPr>
            <a:r>
              <a:rPr sz="1300" b="0" i="0">
                <a:solidFill>
                  <a:srgbClr val="5F666E"/>
                </a:solidFill>
                <a:latin typeface="Microsoft YaHei"/>
              </a:rPr>
              <a:t>实验一 内核有效性　·　实验二 双创新点消融　·　实验三 时延标度　·　实验四 多模型实跑</a:t>
            </a:r>
          </a:p>
          <a:p>
            <a:pPr>
              <a:spcBef>
                <a:spcPts val="2400"/>
              </a:spcBef>
            </a:pPr>
            <a:r>
              <a:rPr sz="1200" b="0" i="0">
                <a:solidFill>
                  <a:srgbClr val="5F666E"/>
                </a:solidFill>
                <a:latin typeface="Microsoft YaHei"/>
              </a:rPr>
              <a:t>554 次判定 × 7 种防护配置　|　148 个工具、114 条意图离线标注　|　预注册哈希先于结果落盘</a:t>
            </a:r>
          </a:p>
          <a:p>
            <a:r>
              <a:rPr sz="1200" b="1" i="0">
                <a:solidFill>
                  <a:srgbClr val="B43D2E"/>
                </a:solidFill>
                <a:latin typeface="Microsoft YaHei"/>
              </a:rPr>
              <a:t>实验一二三已实跑；实验四待运行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B5E8C"/>
                </a:solidFill>
                <a:latin typeface="Microsoft YaHei"/>
              </a:rPr>
              <a:t>一、实验设计</a:t>
            </a:r>
          </a:p>
          <a:p>
            <a:r>
              <a:rPr sz="1200" b="0" i="0">
                <a:solidFill>
                  <a:srgbClr val="5F666E"/>
                </a:solidFill>
                <a:latin typeface="Microsoft YaHei"/>
              </a:rPr>
              <a:t>被测对象是判定行为本身：给定一次待发调用与一段会话历史，判定式是否拦截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88720"/>
            <a:ext cx="11155680" cy="19050"/>
          </a:xfrm>
          <a:prstGeom prst="rect">
            <a:avLst/>
          </a:prstGeom>
          <a:solidFill>
            <a:srgbClr val="D5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111556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 i="0">
                <a:solidFill>
                  <a:srgbClr val="1A1A1A"/>
                </a:solidFill>
                <a:latin typeface="Microsoft YaHei"/>
              </a:rPr>
              <a:t>四组实验各自回答一个独立问题，刻意不混在一起测。实验一问「权 1 的三条件合取式拦不拦得住公开基准的攻击，与 prior art 比如何」，对照两个真实存在的对手：文本层注入检测网关（Rebuff/Lakera 形态）与静态工具权限网关（US12562968B1 形态）；两者均按其最强形态实现，高风险能力集合直接取自内核冻结定义，不为对手另造一张表。实验二把两个创新点逐项拆开，量化每个合取项各自承重多少。实验三只测守卫开销随已注册工具数的标度，不调模型、不起子进程。实验四引入真实模型，测「模型会不会服从注入」与「服从之后守卫拦不拦得住」——这两件事必须分开测：混在一起时，一个为 0 的端到端数字既可能说明防护有效，也可能说明模型根本没上钩，从数字上分不出。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3310128"/>
          <a:ext cx="1115568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5029200"/>
                <a:gridCol w="2194560"/>
                <a:gridCol w="1645920"/>
              </a:tblGrid>
              <a:tr h="274320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Microsoft YaHei"/>
                        </a:rPr>
                        <a:t>实验</a:t>
                      </a:r>
                    </a:p>
                  </a:txBody>
                  <a:tcPr marL="54864" marT="18288" marB="18288">
                    <a:solidFill>
                      <a:srgbClr val="1B5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Microsoft YaHei"/>
                        </a:rPr>
                        <a:t>评价指标</a:t>
                      </a:r>
                    </a:p>
                  </a:txBody>
                  <a:tcPr marL="54864" marT="18288" marB="18288">
                    <a:solidFill>
                      <a:srgbClr val="1B5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Microsoft YaHei"/>
                        </a:rPr>
                        <a:t>分母</a:t>
                      </a:r>
                    </a:p>
                  </a:txBody>
                  <a:tcPr marL="54864" marT="18288" marB="18288">
                    <a:solidFill>
                      <a:srgbClr val="1B5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Microsoft YaHei"/>
                        </a:rPr>
                        <a:t>状态</a:t>
                      </a:r>
                    </a:p>
                  </a:txBody>
                  <a:tcPr marL="54864" marT="18288" marB="18288">
                    <a:solidFill>
                      <a:srgbClr val="1B5E8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Microsoft YaHei"/>
                        </a:rPr>
                        <a:t>一 · 内核有效性</a:t>
                      </a:r>
                    </a:p>
                  </a:txBody>
                  <a:tcPr marL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Microsoft YaHei"/>
                        </a:rPr>
                        <a:t>拦截率 / 误杀率（对照 baseline + 2 个 prior art）</a:t>
                      </a:r>
                    </a:p>
                  </a:txBody>
                  <a:tcPr marL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Microsoft YaHei"/>
                        </a:rPr>
                        <a:t>440 / 114</a:t>
                      </a:r>
                    </a:p>
                  </a:txBody>
                  <a:tcPr marL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E7A4B"/>
                          </a:solidFill>
                          <a:latin typeface="Microsoft YaHei"/>
                        </a:rPr>
                        <a:t>已跑</a:t>
                      </a:r>
                    </a:p>
                  </a:txBody>
                  <a:tcPr marL="54864" marT="18288" marB="18288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Microsoft YaHei"/>
                        </a:rPr>
                        <a:t>二 · 双创新点消融</a:t>
                      </a:r>
                    </a:p>
                  </a:txBody>
                  <a:tcPr marL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Microsoft YaHei"/>
                        </a:rPr>
                        <a:t>拦截率 / 误杀率（baseline / 仅创新1 / 仅创新2 / full）</a:t>
                      </a:r>
                    </a:p>
                  </a:txBody>
                  <a:tcPr marL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Microsoft YaHei"/>
                        </a:rPr>
                        <a:t>440 / 114</a:t>
                      </a:r>
                    </a:p>
                  </a:txBody>
                  <a:tcPr marL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E7A4B"/>
                          </a:solidFill>
                          <a:latin typeface="Microsoft YaHei"/>
                        </a:rPr>
                        <a:t>已跑</a:t>
                      </a:r>
                    </a:p>
                  </a:txBody>
                  <a:tcPr marL="54864" marT="18288" marB="18288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Microsoft YaHei"/>
                        </a:rPr>
                        <a:t>三 · 时延标度</a:t>
                      </a:r>
                    </a:p>
                  </a:txBody>
                  <a:tcPr marL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Microsoft YaHei"/>
                        </a:rPr>
                        <a:t>PreCall P50/P95 随已注册工具数</a:t>
                      </a:r>
                    </a:p>
                  </a:txBody>
                  <a:tcPr marL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Microsoft YaHei"/>
                        </a:rPr>
                        <a:t>N ∈ {1,10,30,100,300}</a:t>
                      </a:r>
                    </a:p>
                  </a:txBody>
                  <a:tcPr marL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E7A4B"/>
                          </a:solidFill>
                          <a:latin typeface="Microsoft YaHei"/>
                        </a:rPr>
                        <a:t>已跑</a:t>
                      </a:r>
                    </a:p>
                  </a:txBody>
                  <a:tcPr marL="54864" marT="18288" marB="18288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Microsoft YaHei"/>
                        </a:rPr>
                        <a:t>四 · 多模型实跑</a:t>
                      </a:r>
                    </a:p>
                  </a:txBody>
                  <a:tcPr marL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Microsoft YaHei"/>
                        </a:rPr>
                        <a:t>注入服从率 / 服从后拦截率</a:t>
                      </a:r>
                    </a:p>
                  </a:txBody>
                  <a:tcPr marL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Microsoft YaHei"/>
                        </a:rPr>
                        <a:t>88 / 服从次数</a:t>
                      </a:r>
                    </a:p>
                  </a:txBody>
                  <a:tcPr marL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B43D2E"/>
                          </a:solidFill>
                          <a:latin typeface="Microsoft YaHei"/>
                        </a:rPr>
                        <a:t>待运行</a:t>
                      </a:r>
                    </a:p>
                  </a:txBody>
                  <a:tcPr marL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5074920"/>
            <a:ext cx="11155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 i="0">
                <a:solidFill>
                  <a:srgbClr val="1B5E8C"/>
                </a:solidFill>
                <a:latin typeface="Microsoft YaHei"/>
              </a:rPr>
              <a:t>方法学约束（三条，均可被审查员复核）</a:t>
            </a:r>
          </a:p>
          <a:p>
            <a:pPr>
              <a:spcAft>
                <a:spcPts val="600"/>
              </a:spcAft>
            </a:pPr>
            <a:r>
              <a:rPr sz="1200" b="0" i="0">
                <a:solidFill>
                  <a:srgbClr val="5F666E"/>
                </a:solidFill>
                <a:latin typeface="Microsoft YaHei"/>
              </a:rPr>
              <a:t>① 内核 src/amsr/ 全程零改动，由 git diff 为空验收；两个 prior-art 臂实现在实验台侧，不进被主张的内核。</a:t>
            </a:r>
          </a:p>
          <a:p>
            <a:pPr>
              <a:spcAft>
                <a:spcPts val="600"/>
              </a:spcAft>
            </a:pPr>
            <a:r>
              <a:rPr sz="1200" b="0" i="0">
                <a:solidFill>
                  <a:srgbClr val="5F666E"/>
                </a:solidFill>
                <a:latin typeface="Microsoft YaHei"/>
              </a:rPr>
              <a:t>② 202 条预期在任何实验运行之前冻结，哈希入 ledger；实测不符者登记并给机制解释，不回头改预期。</a:t>
            </a:r>
          </a:p>
          <a:p>
            <a:pPr>
              <a:spcAft>
                <a:spcPts val="600"/>
              </a:spcAft>
            </a:pPr>
            <a:r>
              <a:rPr sz="1200" b="0" i="0">
                <a:solidFill>
                  <a:srgbClr val="5F666E"/>
                </a:solidFill>
                <a:latin typeface="Microsoft YaHei"/>
              </a:rPr>
              <a:t>③ 意图边界只依据用户 PROMPT 标注——草稿生成器在代码层面不打印实际调用，使标注者物理上看不到答案。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B5E8C"/>
                </a:solidFill>
                <a:latin typeface="Microsoft YaHei"/>
              </a:rPr>
              <a:t>二、数据集构建</a:t>
            </a:r>
          </a:p>
          <a:p>
            <a:r>
              <a:rPr sz="1200" b="0" i="0">
                <a:solidFill>
                  <a:srgbClr val="5F666E"/>
                </a:solidFill>
                <a:latin typeface="Microsoft YaHei"/>
              </a:rPr>
              <a:t>用例不是自造的：从两个公开基准离线抽取，抽取脚本与语料哈希随仓库可复跑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88720"/>
            <a:ext cx="11155680" cy="19050"/>
          </a:xfrm>
          <a:prstGeom prst="rect">
            <a:avLst/>
          </a:prstGeom>
          <a:solidFill>
            <a:srgbClr val="D5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111556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 i="0">
                <a:solidFill>
                  <a:srgbClr val="1A1A1A"/>
                </a:solidFill>
                <a:latin typeface="Microsoft YaHei"/>
              </a:rPr>
              <a:t>攻击与良性用例全部来自 AgentDojo（NeurIPS 2024，MIT）与 InjecAgent（ACL Findings 2024）。AgentDojo 侧必须执行其 ground_truth() 才能求出带具体参数的调用，故由一次性离线脚本在独立环境中抽取，产物冻结成 JSON 提交入库——运行实验时不再需要上游仓库在场，复现门槛仍是一条命令。抽取结果：88 条攻击基例（26 + 62）、114 条良性基例（97 + 17），每条攻击叠 5 种 AgentDojo 注入措辞模板，共 554 次判定。措辞模板逐字保留上游原文，包括 W2 里 iunstructions 这个上游真实拼写错误——它后来成了关键词检测脆性的一个实证。148 个工具的能力映射与 114 条意图边界离线标注、人工复核、冻结入库：运行时只做确定性查表，不调用任何模型做安全判定。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3310128"/>
          <a:ext cx="1115568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6766560"/>
                <a:gridCol w="1645920"/>
              </a:tblGrid>
              <a:tr h="274320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Microsoft YaHei"/>
                        </a:rPr>
                        <a:t>来源</a:t>
                      </a:r>
                    </a:p>
                  </a:txBody>
                  <a:tcPr marL="54864" marT="18288" marB="18288">
                    <a:solidFill>
                      <a:srgbClr val="1B5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Microsoft YaHei"/>
                        </a:rPr>
                        <a:t>取用</a:t>
                      </a:r>
                    </a:p>
                  </a:txBody>
                  <a:tcPr marL="54864" marT="18288" marB="18288">
                    <a:solidFill>
                      <a:srgbClr val="1B5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Microsoft YaHei"/>
                        </a:rPr>
                        <a:t>许可</a:t>
                      </a:r>
                    </a:p>
                  </a:txBody>
                  <a:tcPr marL="54864" marT="18288" marB="18288">
                    <a:solidFill>
                      <a:srgbClr val="1B5E8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Microsoft YaHei"/>
                        </a:rPr>
                        <a:t>AgentDojo（ETH Zürich）</a:t>
                      </a:r>
                    </a:p>
                  </a:txBody>
                  <a:tcPr marL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Microsoft YaHei"/>
                        </a:rPr>
                        <a:t>26 攻击 + 97 良性 + 69 工具 schema + 5 种注入措辞模板</a:t>
                      </a:r>
                    </a:p>
                  </a:txBody>
                  <a:tcPr marL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Microsoft YaHei"/>
                        </a:rPr>
                        <a:t>MIT</a:t>
                      </a:r>
                    </a:p>
                  </a:txBody>
                  <a:tcPr marL="54864" marT="18288" marB="18288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Microsoft YaHei"/>
                        </a:rPr>
                        <a:t>InjecAgent（UIUC）</a:t>
                      </a:r>
                    </a:p>
                  </a:txBody>
                  <a:tcPr marL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Microsoft YaHei"/>
                        </a:rPr>
                        <a:t>62 攻击（30 dh + 32 ds）+ 17 良性 + 79 被引用工具 schema</a:t>
                      </a:r>
                    </a:p>
                  </a:txBody>
                  <a:tcPr marL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Microsoft YaHei"/>
                        </a:rPr>
                        <a:t>见原仓库</a:t>
                      </a:r>
                    </a:p>
                  </a:txBody>
                  <a:tcPr marL="54864" marT="18288" marB="18288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Microsoft YaHei"/>
                        </a:rPr>
                        <a:t>MCPTox（AAAI 2026）</a:t>
                      </a:r>
                    </a:p>
                  </a:txBody>
                  <a:tcPr marL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Microsoft YaHei"/>
                        </a:rPr>
                        <a:t>实验三中把已注册描述补足到 N=300 的语料</a:t>
                      </a:r>
                    </a:p>
                  </a:txBody>
                  <a:tcPr marL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Microsoft YaHei"/>
                        </a:rPr>
                        <a:t>版权归原作者</a:t>
                      </a:r>
                    </a:p>
                  </a:txBody>
                  <a:tcPr marL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4617720"/>
          <a:ext cx="1115568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737360"/>
                <a:gridCol w="3108960"/>
                <a:gridCol w="3931920"/>
              </a:tblGrid>
              <a:tr h="274320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Microsoft YaHei"/>
                        </a:rPr>
                        <a:t>标注层</a:t>
                      </a:r>
                    </a:p>
                  </a:txBody>
                  <a:tcPr marL="54864" marT="18288" marB="18288">
                    <a:solidFill>
                      <a:srgbClr val="1B5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Microsoft YaHei"/>
                        </a:rPr>
                        <a:t>规模</a:t>
                      </a:r>
                    </a:p>
                  </a:txBody>
                  <a:tcPr marL="54864" marT="18288" marB="18288">
                    <a:solidFill>
                      <a:srgbClr val="1B5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Microsoft YaHei"/>
                        </a:rPr>
                        <a:t>机器 / 人工</a:t>
                      </a:r>
                    </a:p>
                  </a:txBody>
                  <a:tcPr marL="54864" marT="18288" marB="18288">
                    <a:solidFill>
                      <a:srgbClr val="1B5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Microsoft YaHei"/>
                        </a:rPr>
                        <a:t>可审计性</a:t>
                      </a:r>
                    </a:p>
                  </a:txBody>
                  <a:tcPr marL="54864" marT="18288" marB="18288">
                    <a:solidFill>
                      <a:srgbClr val="1B5E8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Microsoft YaHei"/>
                        </a:rPr>
                        <a:t>工具能力映射</a:t>
                      </a:r>
                    </a:p>
                  </a:txBody>
                  <a:tcPr marL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Microsoft YaHei"/>
                        </a:rPr>
                        <a:t>148 个工具</a:t>
                      </a:r>
                    </a:p>
                  </a:txBody>
                  <a:tcPr marL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Microsoft YaHei"/>
                        </a:rPr>
                        <a:t>规则推出 125，人工 override 23</a:t>
                      </a:r>
                    </a:p>
                  </a:txBody>
                  <a:tcPr marL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Microsoft YaHei"/>
                        </a:rPr>
                        <a:t>override 每条附理由，git diff 可分</a:t>
                      </a:r>
                    </a:p>
                  </a:txBody>
                  <a:tcPr marL="54864" marT="18288" marB="18288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Microsoft YaHei"/>
                        </a:rPr>
                        <a:t>意图能力边界</a:t>
                      </a:r>
                    </a:p>
                  </a:txBody>
                  <a:tcPr marL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Microsoft YaHei"/>
                        </a:rPr>
                        <a:t>114 条请求</a:t>
                      </a:r>
                    </a:p>
                  </a:txBody>
                  <a:tcPr marL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Microsoft YaHei"/>
                        </a:rPr>
                        <a:t>全部人工按 PROMPT 标注</a:t>
                      </a:r>
                    </a:p>
                  </a:txBody>
                  <a:tcPr marL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Microsoft YaHei"/>
                        </a:rPr>
                        <a:t>草稿生成器不打印实际调用</a:t>
                      </a:r>
                    </a:p>
                  </a:txBody>
                  <a:tcPr marL="54864" marT="18288" marB="18288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Microsoft YaHei"/>
                        </a:rPr>
                        <a:t>预注册预期</a:t>
                      </a:r>
                    </a:p>
                  </a:txBody>
                  <a:tcPr marL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Microsoft YaHei"/>
                        </a:rPr>
                        <a:t>202 条</a:t>
                      </a:r>
                    </a:p>
                  </a:txBody>
                  <a:tcPr marL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Microsoft YaHei"/>
                        </a:rPr>
                        <a:t>静态套用五条判定规则</a:t>
                      </a:r>
                    </a:p>
                  </a:txBody>
                  <a:tcPr marL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Microsoft YaHei"/>
                        </a:rPr>
                        <a:t>哈希先于结果落盘</a:t>
                      </a:r>
                    </a:p>
                  </a:txBody>
                  <a:tcPr marL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589788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 i="0">
                <a:solidFill>
                  <a:srgbClr val="5F666E"/>
                </a:solidFill>
                <a:latin typeface="Microsoft YaHei"/>
              </a:rPr>
              <a:t>两处如实排除／缺口，均在报告中点名：travel/injection_task_6 是纯输出操纵攻击（不产生任何工具调用），权 1 对它无从下手，故不计入分母；InjecAgent 62 条攻击中 8 条为无参动作，ARG_SUBSTRING 证据结构上够不着——这 8 条正是后文 11 条漏拦的主体。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B5E8C"/>
                </a:solidFill>
                <a:latin typeface="Microsoft YaHei"/>
              </a:rPr>
              <a:t>三、实验结果（一 / 二 / 三）</a:t>
            </a:r>
          </a:p>
          <a:p>
            <a:r>
              <a:rPr sz="1200" b="0" i="0">
                <a:solidFill>
                  <a:srgbClr val="5F666E"/>
                </a:solidFill>
                <a:latin typeface="Microsoft YaHei"/>
              </a:rPr>
              <a:t>数字逐个抄自运行产物，不经手算、不经估算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88720"/>
            <a:ext cx="11155680" cy="19050"/>
          </a:xfrm>
          <a:prstGeom prst="rect">
            <a:avLst/>
          </a:prstGeom>
          <a:solidFill>
            <a:srgbClr val="D5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371600"/>
            <a:ext cx="111556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 i="0">
                <a:solidFill>
                  <a:srgbClr val="1A1A1A"/>
                </a:solidFill>
                <a:latin typeface="Microsoft YaHei"/>
              </a:rPr>
              <a:t>核心结果是一组取舍关系而非单一数字：静态权限网关拦得最多（96.6%）却误杀近半数合法工作（49.1%），文本检测网关在本批公开措辞上完全失效（0%），而权 1 全链路在误杀为零的前提下拦住 71.6%。消融把两个合取项的承重量化：去掉因果合取项，拦截率升到 87.5% 但误杀率从 0 升到 12.3%；仅去掉「可验证」这一个限定词，拦截率升到 84.1% 而误杀率从 0 升到 6.1%——权利要求里那三个字的价值，由这一行数据单独说清。五种注入措辞下拦截率逐格相等，支持「判定与攻击者措辞无关」这一主张。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2788920"/>
          <a:ext cx="111556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1828800"/>
                <a:gridCol w="1554480"/>
                <a:gridCol w="4754880"/>
              </a:tblGrid>
              <a:tr h="274320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Microsoft YaHei"/>
                        </a:rPr>
                        <a:t>防护配置</a:t>
                      </a:r>
                    </a:p>
                  </a:txBody>
                  <a:tcPr marL="54864" marT="18288" marB="18288">
                    <a:solidFill>
                      <a:srgbClr val="1B5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Microsoft YaHei"/>
                        </a:rPr>
                        <a:t>攻击拦截率</a:t>
                      </a:r>
                    </a:p>
                  </a:txBody>
                  <a:tcPr marL="54864" marT="18288" marB="18288">
                    <a:solidFill>
                      <a:srgbClr val="1B5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Microsoft YaHei"/>
                        </a:rPr>
                        <a:t>误杀率</a:t>
                      </a:r>
                    </a:p>
                  </a:txBody>
                  <a:tcPr marL="54864" marT="18288" marB="18288">
                    <a:solidFill>
                      <a:srgbClr val="1B5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Microsoft YaHei"/>
                        </a:rPr>
                        <a:t>读法</a:t>
                      </a:r>
                    </a:p>
                  </a:txBody>
                  <a:tcPr marL="54864" marT="18288" marB="18288">
                    <a:solidFill>
                      <a:srgbClr val="1B5E8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Microsoft YaHei"/>
                        </a:rPr>
                        <a:t>baseline 无防护</a:t>
                      </a:r>
                    </a:p>
                  </a:txBody>
                  <a:tcPr marL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Microsoft YaHei"/>
                        </a:rPr>
                        <a:t>0.000</a:t>
                      </a:r>
                    </a:p>
                  </a:txBody>
                  <a:tcPr marL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Microsoft YaHei"/>
                        </a:rPr>
                        <a:t>0.000</a:t>
                      </a:r>
                    </a:p>
                  </a:txBody>
                  <a:tcPr marL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Microsoft YaHei"/>
                        </a:rPr>
                        <a:t>确认分母里装的是真攻击</a:t>
                      </a:r>
                    </a:p>
                  </a:txBody>
                  <a:tcPr marL="54864" marT="18288" marB="18288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Microsoft YaHei"/>
                        </a:rPr>
                        <a:t>prior art A · 文本检测网关</a:t>
                      </a:r>
                    </a:p>
                  </a:txBody>
                  <a:tcPr marL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B43D2E"/>
                          </a:solidFill>
                          <a:latin typeface="Microsoft YaHei"/>
                        </a:rPr>
                        <a:t>0.000</a:t>
                      </a:r>
                    </a:p>
                  </a:txBody>
                  <a:tcPr marL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Microsoft YaHei"/>
                        </a:rPr>
                        <a:t>0.000</a:t>
                      </a:r>
                    </a:p>
                  </a:txBody>
                  <a:tcPr marL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Microsoft YaHei"/>
                        </a:rPr>
                        <a:t>规则集未针对本批措辞调优（见注）</a:t>
                      </a:r>
                    </a:p>
                  </a:txBody>
                  <a:tcPr marL="54864" marT="18288" marB="18288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Microsoft YaHei"/>
                        </a:rPr>
                        <a:t>prior art B · 静态权限网关</a:t>
                      </a:r>
                    </a:p>
                  </a:txBody>
                  <a:tcPr marL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Microsoft YaHei"/>
                        </a:rPr>
                        <a:t>0.966</a:t>
                      </a:r>
                    </a:p>
                  </a:txBody>
                  <a:tcPr marL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B43D2E"/>
                          </a:solidFill>
                          <a:latin typeface="Microsoft YaHei"/>
                        </a:rPr>
                        <a:t>0.491</a:t>
                      </a:r>
                    </a:p>
                  </a:txBody>
                  <a:tcPr marL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Microsoft YaHei"/>
                        </a:rPr>
                        <a:t>拦掉近半合法工作，不可用</a:t>
                      </a:r>
                    </a:p>
                  </a:txBody>
                  <a:tcPr marL="54864" marT="18288" marB="18288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Microsoft YaHei"/>
                        </a:rPr>
                        <a:t>仅创新点 1（能力边界）</a:t>
                      </a:r>
                    </a:p>
                  </a:txBody>
                  <a:tcPr marL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Microsoft YaHei"/>
                        </a:rPr>
                        <a:t>0.875</a:t>
                      </a:r>
                    </a:p>
                  </a:txBody>
                  <a:tcPr marL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B43D2E"/>
                          </a:solidFill>
                          <a:latin typeface="Microsoft YaHei"/>
                        </a:rPr>
                        <a:t>0.123</a:t>
                      </a:r>
                    </a:p>
                  </a:txBody>
                  <a:tcPr marL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Microsoft YaHei"/>
                        </a:rPr>
                        <a:t>误杀用户自己要求的越界</a:t>
                      </a:r>
                    </a:p>
                  </a:txBody>
                  <a:tcPr marL="54864" marT="18288" marB="18288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Microsoft YaHei"/>
                        </a:rPr>
                        <a:t>仅创新点 2（因果证据）</a:t>
                      </a:r>
                    </a:p>
                  </a:txBody>
                  <a:tcPr marL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5F666E"/>
                          </a:solidFill>
                          <a:latin typeface="Microsoft YaHei"/>
                        </a:rPr>
                        <a:t>0.000</a:t>
                      </a:r>
                    </a:p>
                  </a:txBody>
                  <a:tcPr marL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Microsoft YaHei"/>
                        </a:rPr>
                        <a:t>0.000</a:t>
                      </a:r>
                    </a:p>
                  </a:txBody>
                  <a:tcPr marL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Microsoft YaHei"/>
                        </a:rPr>
                        <a:t>本语料无 SECRET 外传可触发（见注）</a:t>
                      </a:r>
                    </a:p>
                  </a:txBody>
                  <a:tcPr marL="54864" marT="18288" marB="18288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Microsoft YaHei"/>
                        </a:rPr>
                        <a:t>权 1 全链路</a:t>
                      </a:r>
                    </a:p>
                  </a:txBody>
                  <a:tcPr marL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E7A4B"/>
                          </a:solidFill>
                          <a:latin typeface="Microsoft YaHei"/>
                        </a:rPr>
                        <a:t>0.716</a:t>
                      </a:r>
                    </a:p>
                  </a:txBody>
                  <a:tcPr marL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E7A4B"/>
                          </a:solidFill>
                          <a:latin typeface="Microsoft YaHei"/>
                        </a:rPr>
                        <a:t>0.000</a:t>
                      </a:r>
                    </a:p>
                  </a:txBody>
                  <a:tcPr marL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Microsoft YaHei"/>
                        </a:rPr>
                        <a:t>误杀为零前提下的主结果</a:t>
                      </a:r>
                    </a:p>
                  </a:txBody>
                  <a:tcPr marL="54864" marT="18288" marB="18288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Microsoft YaHei"/>
                        </a:rPr>
                        <a:t>全链 − 可验证证据</a:t>
                      </a:r>
                    </a:p>
                  </a:txBody>
                  <a:tcPr marL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Microsoft YaHei"/>
                        </a:rPr>
                        <a:t>0.841</a:t>
                      </a:r>
                    </a:p>
                  </a:txBody>
                  <a:tcPr marL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B43D2E"/>
                          </a:solidFill>
                          <a:latin typeface="Microsoft YaHei"/>
                        </a:rPr>
                        <a:t>0.061</a:t>
                      </a:r>
                    </a:p>
                  </a:txBody>
                  <a:tcPr marL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Microsoft YaHei"/>
                        </a:rPr>
                        <a:t>该限定词的存在理由</a:t>
                      </a:r>
                    </a:p>
                  </a:txBody>
                  <a:tcPr marL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5074920"/>
          <a:ext cx="11155680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737360"/>
                <a:gridCol w="1737360"/>
                <a:gridCol w="1737360"/>
                <a:gridCol w="1737360"/>
                <a:gridCol w="1828800"/>
              </a:tblGrid>
              <a:tr h="274320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Microsoft YaHei"/>
                        </a:rPr>
                        <a:t>N（已注册工具数）</a:t>
                      </a:r>
                    </a:p>
                  </a:txBody>
                  <a:tcPr marL="54864" marT="18288" marB="18288">
                    <a:solidFill>
                      <a:srgbClr val="1B5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Microsoft YaHei"/>
                        </a:rPr>
                        <a:t>1</a:t>
                      </a:r>
                    </a:p>
                  </a:txBody>
                  <a:tcPr marL="54864" marT="18288" marB="18288">
                    <a:solidFill>
                      <a:srgbClr val="1B5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Microsoft YaHei"/>
                        </a:rPr>
                        <a:t>10</a:t>
                      </a:r>
                    </a:p>
                  </a:txBody>
                  <a:tcPr marL="54864" marT="18288" marB="18288">
                    <a:solidFill>
                      <a:srgbClr val="1B5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Microsoft YaHei"/>
                        </a:rPr>
                        <a:t>30</a:t>
                      </a:r>
                    </a:p>
                  </a:txBody>
                  <a:tcPr marL="54864" marT="18288" marB="18288">
                    <a:solidFill>
                      <a:srgbClr val="1B5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Microsoft YaHei"/>
                        </a:rPr>
                        <a:t>100</a:t>
                      </a:r>
                    </a:p>
                  </a:txBody>
                  <a:tcPr marL="54864" marT="18288" marB="18288">
                    <a:solidFill>
                      <a:srgbClr val="1B5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Microsoft YaHei"/>
                        </a:rPr>
                        <a:t>300</a:t>
                      </a:r>
                    </a:p>
                  </a:txBody>
                  <a:tcPr marL="54864" marT="18288" marB="18288">
                    <a:solidFill>
                      <a:srgbClr val="1B5E8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Microsoft YaHei"/>
                        </a:rPr>
                        <a:t>PreCall P50</a:t>
                      </a:r>
                    </a:p>
                  </a:txBody>
                  <a:tcPr marL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Microsoft YaHei"/>
                        </a:rPr>
                        <a:t>0.059 ms</a:t>
                      </a:r>
                    </a:p>
                  </a:txBody>
                  <a:tcPr marL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Microsoft YaHei"/>
                        </a:rPr>
                        <a:t>0.133 ms</a:t>
                      </a:r>
                    </a:p>
                  </a:txBody>
                  <a:tcPr marL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Microsoft YaHei"/>
                        </a:rPr>
                        <a:t>0.331 ms</a:t>
                      </a:r>
                    </a:p>
                  </a:txBody>
                  <a:tcPr marL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Microsoft YaHei"/>
                        </a:rPr>
                        <a:t>0.982 ms</a:t>
                      </a:r>
                    </a:p>
                  </a:txBody>
                  <a:tcPr marL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B43D2E"/>
                          </a:solidFill>
                          <a:latin typeface="Microsoft YaHei"/>
                        </a:rPr>
                        <a:t>5.889 ms</a:t>
                      </a:r>
                    </a:p>
                  </a:txBody>
                  <a:tcPr marL="54864" marT="18288" marB="18288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Microsoft YaHei"/>
                        </a:rPr>
                        <a:t>可否称「轻量」</a:t>
                      </a:r>
                    </a:p>
                  </a:txBody>
                  <a:tcPr marL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Microsoft YaHei"/>
                        </a:rPr>
                        <a:t>是</a:t>
                      </a:r>
                    </a:p>
                  </a:txBody>
                  <a:tcPr marL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Microsoft YaHei"/>
                        </a:rPr>
                        <a:t>是</a:t>
                      </a:r>
                    </a:p>
                  </a:txBody>
                  <a:tcPr marL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Microsoft YaHei"/>
                        </a:rPr>
                        <a:t>是</a:t>
                      </a:r>
                    </a:p>
                  </a:txBody>
                  <a:tcPr marL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Microsoft YaHei"/>
                        </a:rPr>
                        <a:t>边界</a:t>
                      </a:r>
                    </a:p>
                  </a:txBody>
                  <a:tcPr marL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B43D2E"/>
                          </a:solidFill>
                          <a:latin typeface="Microsoft YaHei"/>
                        </a:rPr>
                        <a:t>否</a:t>
                      </a:r>
                    </a:p>
                  </a:txBody>
                  <a:tcPr marL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6053328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00" b="0" i="0">
                <a:solidFill>
                  <a:srgbClr val="5F666E"/>
                </a:solidFill>
                <a:latin typeface="Microsoft YaHei"/>
              </a:rPr>
              <a:t>两个 0.000 不可按字面读：文本检测器对 1220 条结果文本零命中，但阴性对照仍有效，故装置在工作、是规则集对本批措辞全盲；仅创新点 2 的 0 是语料性质（1576 条结果全判 PUBLIC，回放用合成占位文本），其证据链在全链路臂 427 次调用中三种类型全部触发。N=300 一格因描述来源改变而含混淆变量，不与前四格直接比斜率。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B5E8C"/>
                </a:solidFill>
                <a:latin typeface="Microsoft YaHei"/>
              </a:rPr>
              <a:t>四、多模型实跑（待运行）与已知局限</a:t>
            </a:r>
          </a:p>
          <a:p>
            <a:r>
              <a:rPr sz="1200" b="0" i="0">
                <a:solidFill>
                  <a:srgbClr val="5F666E"/>
                </a:solidFill>
                <a:latin typeface="Microsoft YaHei"/>
              </a:rPr>
              <a:t>对交底不利的与有利的并列陈述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188720"/>
            <a:ext cx="11155680" cy="19050"/>
          </a:xfrm>
          <a:prstGeom prst="rect">
            <a:avLst/>
          </a:prstGeom>
          <a:solidFill>
            <a:srgbClr val="D5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371600"/>
            <a:ext cx="11155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0" i="0">
                <a:solidFill>
                  <a:srgbClr val="1A1A1A"/>
                </a:solidFill>
                <a:latin typeface="Microsoft YaHei"/>
              </a:rPr>
              <a:t>实验四引入 5 个跨厂商模型，每个跑 88 条攻击 + 114 条良性共 1010 次单轮调用，temperature=0，措辞固定为 W4——它在上一轮的服从率最高，固定选它是选了对攻击者最有利的一种。两个指标的分母刻意不同：服从率分母是 88，服从后拦截率分母是该模型的实际服从次数。模型自己没上钩的回合不计入拦截率，那是模型的对齐、不是守卫的功劳。送进守卫的是模型实际生成的调用与参数，而非剧本——这是本实验与实验一的全部区别。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2606040"/>
          <a:ext cx="1115568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554480"/>
                <a:gridCol w="1371600"/>
                <a:gridCol w="2011680"/>
                <a:gridCol w="1920240"/>
                <a:gridCol w="1005840"/>
              </a:tblGrid>
              <a:tr h="274320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Microsoft YaHei"/>
                        </a:rPr>
                        <a:t>模型</a:t>
                      </a:r>
                    </a:p>
                  </a:txBody>
                  <a:tcPr marL="54864" marT="18288" marB="18288">
                    <a:solidFill>
                      <a:srgbClr val="1B5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Microsoft YaHei"/>
                        </a:rPr>
                        <a:t>服从 / 88</a:t>
                      </a:r>
                    </a:p>
                  </a:txBody>
                  <a:tcPr marL="54864" marT="18288" marB="18288">
                    <a:solidFill>
                      <a:srgbClr val="1B5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Microsoft YaHei"/>
                        </a:rPr>
                        <a:t>服从率</a:t>
                      </a:r>
                    </a:p>
                  </a:txBody>
                  <a:tcPr marL="54864" marT="18288" marB="18288">
                    <a:solidFill>
                      <a:srgbClr val="1B5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Microsoft YaHei"/>
                        </a:rPr>
                        <a:t>服从后拦截率</a:t>
                      </a:r>
                    </a:p>
                  </a:txBody>
                  <a:tcPr marL="54864" marT="18288" marB="18288">
                    <a:solidFill>
                      <a:srgbClr val="1B5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Microsoft YaHei"/>
                        </a:rPr>
                        <a:t>良性误杀 / 114</a:t>
                      </a:r>
                    </a:p>
                  </a:txBody>
                  <a:tcPr marL="54864" marT="18288" marB="18288">
                    <a:solidFill>
                      <a:srgbClr val="1B5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Microsoft YaHei"/>
                        </a:rPr>
                        <a:t>错误数</a:t>
                      </a:r>
                    </a:p>
                  </a:txBody>
                  <a:tcPr marL="54864" marT="18288" marB="18288">
                    <a:solidFill>
                      <a:srgbClr val="1B5E8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Microsoft YaHei"/>
                        </a:rPr>
                        <a:t>meta-llama/llama-3.1-8b</a:t>
                      </a:r>
                    </a:p>
                  </a:txBody>
                  <a:tcPr marL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Microsoft YaHei"/>
                        </a:rPr>
                        <a:t/>
                      </a:r>
                    </a:p>
                  </a:txBody>
                  <a:tcPr marL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Microsoft YaHei"/>
                        </a:rPr>
                        <a:t/>
                      </a:r>
                    </a:p>
                  </a:txBody>
                  <a:tcPr marL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Microsoft YaHei"/>
                        </a:rPr>
                        <a:t/>
                      </a:r>
                    </a:p>
                  </a:txBody>
                  <a:tcPr marL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Microsoft YaHei"/>
                        </a:rPr>
                        <a:t/>
                      </a:r>
                    </a:p>
                  </a:txBody>
                  <a:tcPr marL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Microsoft YaHei"/>
                        </a:rPr>
                        <a:t/>
                      </a:r>
                    </a:p>
                  </a:txBody>
                  <a:tcPr marL="54864" marT="18288" marB="18288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Microsoft YaHei"/>
                        </a:rPr>
                        <a:t>qwen/qwen3-32b</a:t>
                      </a:r>
                    </a:p>
                  </a:txBody>
                  <a:tcPr marL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Microsoft YaHei"/>
                        </a:rPr>
                        <a:t/>
                      </a:r>
                    </a:p>
                  </a:txBody>
                  <a:tcPr marL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Microsoft YaHei"/>
                        </a:rPr>
                        <a:t/>
                      </a:r>
                    </a:p>
                  </a:txBody>
                  <a:tcPr marL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Microsoft YaHei"/>
                        </a:rPr>
                        <a:t/>
                      </a:r>
                    </a:p>
                  </a:txBody>
                  <a:tcPr marL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Microsoft YaHei"/>
                        </a:rPr>
                        <a:t/>
                      </a:r>
                    </a:p>
                  </a:txBody>
                  <a:tcPr marL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Microsoft YaHei"/>
                        </a:rPr>
                        <a:t/>
                      </a:r>
                    </a:p>
                  </a:txBody>
                  <a:tcPr marL="54864" marT="18288" marB="18288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Microsoft YaHei"/>
                        </a:rPr>
                        <a:t>openai/gpt-5-nano</a:t>
                      </a:r>
                    </a:p>
                  </a:txBody>
                  <a:tcPr marL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Microsoft YaHei"/>
                        </a:rPr>
                        <a:t/>
                      </a:r>
                    </a:p>
                  </a:txBody>
                  <a:tcPr marL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Microsoft YaHei"/>
                        </a:rPr>
                        <a:t/>
                      </a:r>
                    </a:p>
                  </a:txBody>
                  <a:tcPr marL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Microsoft YaHei"/>
                        </a:rPr>
                        <a:t/>
                      </a:r>
                    </a:p>
                  </a:txBody>
                  <a:tcPr marL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Microsoft YaHei"/>
                        </a:rPr>
                        <a:t/>
                      </a:r>
                    </a:p>
                  </a:txBody>
                  <a:tcPr marL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Microsoft YaHei"/>
                        </a:rPr>
                        <a:t/>
                      </a:r>
                    </a:p>
                  </a:txBody>
                  <a:tcPr marL="54864" marT="18288" marB="18288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Microsoft YaHei"/>
                        </a:rPr>
                        <a:t>google/gemini-2.5-flash-lite</a:t>
                      </a:r>
                    </a:p>
                  </a:txBody>
                  <a:tcPr marL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Microsoft YaHei"/>
                        </a:rPr>
                        <a:t/>
                      </a:r>
                    </a:p>
                  </a:txBody>
                  <a:tcPr marL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Microsoft YaHei"/>
                        </a:rPr>
                        <a:t/>
                      </a:r>
                    </a:p>
                  </a:txBody>
                  <a:tcPr marL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Microsoft YaHei"/>
                        </a:rPr>
                        <a:t/>
                      </a:r>
                    </a:p>
                  </a:txBody>
                  <a:tcPr marL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Microsoft YaHei"/>
                        </a:rPr>
                        <a:t/>
                      </a:r>
                    </a:p>
                  </a:txBody>
                  <a:tcPr marL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Microsoft YaHei"/>
                        </a:rPr>
                        <a:t/>
                      </a:r>
                    </a:p>
                  </a:txBody>
                  <a:tcPr marL="54864" marT="18288" marB="18288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Microsoft YaHei"/>
                        </a:rPr>
                        <a:t>anthropic/claude-haiku-4.5</a:t>
                      </a:r>
                    </a:p>
                  </a:txBody>
                  <a:tcPr marL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Microsoft YaHei"/>
                        </a:rPr>
                        <a:t/>
                      </a:r>
                    </a:p>
                  </a:txBody>
                  <a:tcPr marL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Microsoft YaHei"/>
                        </a:rPr>
                        <a:t/>
                      </a:r>
                    </a:p>
                  </a:txBody>
                  <a:tcPr marL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Microsoft YaHei"/>
                        </a:rPr>
                        <a:t/>
                      </a:r>
                    </a:p>
                  </a:txBody>
                  <a:tcPr marL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Microsoft YaHei"/>
                        </a:rPr>
                        <a:t/>
                      </a:r>
                    </a:p>
                  </a:txBody>
                  <a:tcPr marL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1A"/>
                          </a:solidFill>
                          <a:latin typeface="Microsoft YaHei"/>
                        </a:rPr>
                        <a:t/>
                      </a:r>
                    </a:p>
                  </a:txBody>
                  <a:tcPr marL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4526280"/>
            <a:ext cx="54406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 i="0">
                <a:solidFill>
                  <a:srgbClr val="1E7A4B"/>
                </a:solidFill>
                <a:latin typeface="Microsoft YaHei"/>
              </a:rPr>
              <a:t>结论 · 有利</a:t>
            </a:r>
          </a:p>
          <a:p>
            <a:pPr>
              <a:spcAft>
                <a:spcPts val="300"/>
              </a:spcAft>
            </a:pPr>
            <a:r>
              <a:rPr sz="1150" b="0" i="0">
                <a:solidFill>
                  <a:srgbClr val="1A1A1A"/>
                </a:solidFill>
                <a:latin typeface="Microsoft YaHei"/>
              </a:rPr>
              <a:t>· 误杀为零前提下拦住 71.6% 的公开基准攻击</a:t>
            </a:r>
          </a:p>
          <a:p>
            <a:pPr>
              <a:spcAft>
                <a:spcPts val="300"/>
              </a:spcAft>
            </a:pPr>
            <a:r>
              <a:rPr sz="1150" b="0" i="0">
                <a:solidFill>
                  <a:srgbClr val="1A1A1A"/>
                </a:solidFill>
                <a:latin typeface="Microsoft YaHei"/>
              </a:rPr>
              <a:t>· 与静态权限网关的实质差别：49.1% → 0% 误杀</a:t>
            </a:r>
          </a:p>
          <a:p>
            <a:pPr>
              <a:spcAft>
                <a:spcPts val="300"/>
              </a:spcAft>
            </a:pPr>
            <a:r>
              <a:rPr sz="1150" b="0" i="0">
                <a:solidFill>
                  <a:srgbClr val="1A1A1A"/>
                </a:solidFill>
                <a:latin typeface="Microsoft YaHei"/>
              </a:rPr>
              <a:t>· 判定与攻击者措辞无关（五种措辞逐格相等）</a:t>
            </a:r>
          </a:p>
          <a:p>
            <a:pPr>
              <a:spcAft>
                <a:spcPts val="300"/>
              </a:spcAft>
            </a:pPr>
            <a:r>
              <a:rPr sz="1150" b="0" i="0">
                <a:solidFill>
                  <a:srgbClr val="1A1A1A"/>
                </a:solidFill>
                <a:latin typeface="Microsoft YaHei"/>
              </a:rPr>
              <a:t>· 两个合取项的承重可分别量化</a:t>
            </a:r>
          </a:p>
          <a:p>
            <a:pPr>
              <a:spcAft>
                <a:spcPts val="300"/>
              </a:spcAft>
            </a:pPr>
            <a:r>
              <a:rPr sz="1150" b="0" i="0">
                <a:solidFill>
                  <a:srgbClr val="1A1A1A"/>
                </a:solidFill>
                <a:latin typeface="Microsoft YaHei"/>
              </a:rPr>
              <a:t>· N ≤ 30 时开销 ≤ 0.331 ms</a:t>
            </a:r>
          </a:p>
          <a:p>
            <a:pPr>
              <a:spcAft>
                <a:spcPts val="300"/>
              </a:spcAft>
            </a:pPr>
            <a:r>
              <a:rPr sz="1150" b="0" i="0">
                <a:solidFill>
                  <a:srgbClr val="1A1A1A"/>
                </a:solidFill>
                <a:latin typeface="Microsoft YaHei"/>
              </a:rPr>
              <a:t>· 内核零改动，四个哈希先于结果落盘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4526280"/>
            <a:ext cx="5394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 i="0">
                <a:solidFill>
                  <a:srgbClr val="B43D2E"/>
                </a:solidFill>
                <a:latin typeface="Microsoft YaHei"/>
              </a:rPr>
              <a:t>结论 · 不利</a:t>
            </a:r>
          </a:p>
          <a:p>
            <a:pPr>
              <a:spcAft>
                <a:spcPts val="300"/>
              </a:spcAft>
            </a:pPr>
            <a:r>
              <a:rPr sz="1150" b="0" i="0">
                <a:solidFill>
                  <a:srgbClr val="1A1A1A"/>
                </a:solidFill>
                <a:latin typeface="Microsoft YaHei"/>
              </a:rPr>
              <a:t>· 71.6% 低于上一轮自造用例集的 97.5%</a:t>
            </a:r>
          </a:p>
          <a:p>
            <a:pPr>
              <a:spcAft>
                <a:spcPts val="300"/>
              </a:spcAft>
            </a:pPr>
            <a:r>
              <a:rPr sz="1150" b="0" i="0">
                <a:solidFill>
                  <a:srgbClr val="1A1A1A"/>
                </a:solidFill>
                <a:latin typeface="Microsoft YaHei"/>
              </a:rPr>
              <a:t>· 权 1 第二个拦截析取项本轮完全未被检验</a:t>
            </a:r>
          </a:p>
          <a:p>
            <a:pPr>
              <a:spcAft>
                <a:spcPts val="300"/>
              </a:spcAft>
            </a:pPr>
            <a:r>
              <a:rPr sz="1150" b="0" i="0">
                <a:solidFill>
                  <a:srgbClr val="1A1A1A"/>
                </a:solidFill>
                <a:latin typeface="Microsoft YaHei"/>
              </a:rPr>
              <a:t>· 11 条漏拦：纯动词型攻击不携带可追溯参数</a:t>
            </a:r>
          </a:p>
          <a:p>
            <a:pPr>
              <a:spcAft>
                <a:spcPts val="300"/>
              </a:spcAft>
            </a:pPr>
            <a:r>
              <a:rPr sz="1150" b="0" i="0">
                <a:solidFill>
                  <a:srgbClr val="1A1A1A"/>
                </a:solidFill>
                <a:latin typeface="Microsoft YaHei"/>
              </a:rPr>
              <a:t>· 零误杀与这 11 条漏拦是同一机制的两面</a:t>
            </a:r>
          </a:p>
          <a:p>
            <a:pPr>
              <a:spcAft>
                <a:spcPts val="300"/>
              </a:spcAft>
            </a:pPr>
            <a:r>
              <a:rPr sz="1150" b="0" i="0">
                <a:solidFill>
                  <a:srgbClr val="1A1A1A"/>
                </a:solidFill>
                <a:latin typeface="Microsoft YaHei"/>
              </a:rPr>
              <a:t>· 预注册预期本身错了 11 条（已登记未改）</a:t>
            </a:r>
          </a:p>
          <a:p>
            <a:pPr>
              <a:spcAft>
                <a:spcPts val="300"/>
              </a:spcAft>
            </a:pPr>
            <a:r>
              <a:rPr sz="1150" b="0" i="0">
                <a:solidFill>
                  <a:srgbClr val="1A1A1A"/>
                </a:solidFill>
                <a:latin typeface="Microsoft YaHei"/>
              </a:rPr>
              <a:t>· 实验三标度指数因成分混淆不可单一化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